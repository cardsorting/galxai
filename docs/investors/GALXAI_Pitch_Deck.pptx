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[0:00 - 0:45] GALXAI flattens and eases the path to the first dollar made with AI. We solve the existential tokenmaxxing crisis: eliminating 4 weeks of engineering overhead and cutting retail compute bills 30% to 40% to make AI software profitable on Day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[0:45 - 1:45] Here is the existential crisis: 'Tokenmaxxing' economics have spiraled completely out of hand. Developers stuff 100k context windows and loop autonomous agents, burning millions of tokens per task. Startups charge $20 a month while users burn $45 in API bills. CFOs are screaming to make the bleeding stop.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[1:45 - 2:30] Why can't companies stop this bleeding on their own? Two catastrophic traps: senior engineering teams burn 4 weeks ($150k+ in payroll) building backend servers before making a single cent, and developers blindly burn $60/M flagship models on simple tasks while looping agents drain bank accounts overnight.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[2:30 - 3:30] Why won't OpenAI or proxy routers help? OpenAI profits from tokenmaxxing—they make money when you burn more retail tokens. Dumb proxy routers just forward the bill. Only GALXAI aligns economically to eliminate waste and protect margins.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[3:30 - 4:30] GALXAI makes the pain stop through three economic pillars: Costco-level bulk discounts save 25% to 40% on compute, semantic fluff compaction trims 60% to 90% of bloated context, and our smart downshifter prevents $60/M overspending while clamping infinite agent loops.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[4:30 - 5:30] Here is our core invoicing unlock: Net Spend Interception. We replace a customer's $100k burning OpenAI invoice with a single consolidated $62k GALXAI invoice, handing $38,000 in direct cash savings back to the CFO on Day 1 (-38%) with zero procurement resistance.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[5:30 - 6:30] Where does our developer adoption come from? We have an existing in-house open-source distribution funnel. Our LUMI VS Code extension has 16,000 active users, our CLI agent has 2,000 active users, and we've generated over 120,000 lifetime installs in just 9 months with zero paid marketing. This feeds developers directly into GALXAI when they ship production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[6:30 - 7:30] Our unit economics benefit directly from our open-source funnel: zero paid customer acquisition cost, 2.1-month payback, and 138% net retention. Our financial model scales us from our 2026 private beta to $22M ARR and breakeven in Year 3, reaching $90M ARR and $22M in free cash flow by Year 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457200"/>
          </a:xfrm>
          <a:prstGeom prst="rect">
            <a:avLst/>
          </a:prstGeom>
          <a:noFill/>
        </p:spPr>
        <p:txBody>
          <a:bodyPr wrap="square" lIns="0" tIns="0" rIns="0" bIns="0">
            <a:spAutoFit/>
          </a:bodyPr>
          <a:lstStyle/>
          <a:p>
            <a:r>
              <a:rPr b="1" sz="1400">
                <a:solidFill>
                  <a:srgbClr val="00F0FF"/>
                </a:solidFill>
              </a:rPr>
              <a:t>GALXAI </a:t>
            </a:r>
            <a:r>
              <a:rPr sz="1100">
                <a:solidFill>
                  <a:srgbClr val="94A3B8"/>
                </a:solidFill>
              </a:rPr>
              <a:t>•  Halting the Tokenmaxxing Crisis</a:t>
            </a:r>
          </a:p>
        </p:txBody>
      </p:sp>
      <p:sp>
        <p:nvSpPr>
          <p:cNvPr id="4" name="TextBox 3"/>
          <p:cNvSpPr txBox="1"/>
          <p:nvPr/>
        </p:nvSpPr>
        <p:spPr>
          <a:xfrm>
            <a:off x="9601200" y="365760"/>
            <a:ext cx="1828800" cy="457200"/>
          </a:xfrm>
          <a:prstGeom prst="rect">
            <a:avLst/>
          </a:prstGeom>
          <a:noFill/>
        </p:spPr>
        <p:txBody>
          <a:bodyPr wrap="none" lIns="0" tIns="0" rIns="0" bIns="0">
            <a:spAutoFit/>
          </a:bodyPr>
          <a:lstStyle/>
          <a:p>
            <a:pPr algn="r"/>
            <a:r>
              <a:rPr b="1" sz="1100">
                <a:solidFill>
                  <a:srgbClr val="94A3B8"/>
                </a:solidFill>
              </a:rPr>
              <a:t>Slide 1 / 8</a:t>
            </a:r>
          </a:p>
        </p:txBody>
      </p:sp>
      <p:sp>
        <p:nvSpPr>
          <p:cNvPr id="5" name="TextBox 4"/>
          <p:cNvSpPr txBox="1"/>
          <p:nvPr/>
        </p:nvSpPr>
        <p:spPr>
          <a:xfrm>
            <a:off x="731520" y="1005840"/>
            <a:ext cx="10728655" cy="2011680"/>
          </a:xfrm>
          <a:prstGeom prst="rect">
            <a:avLst/>
          </a:prstGeom>
          <a:noFill/>
        </p:spPr>
        <p:txBody>
          <a:bodyPr wrap="square">
            <a:spAutoFit/>
          </a:bodyPr>
          <a:lstStyle/>
          <a:p>
            <a:r>
              <a:rPr b="1" sz="1100">
                <a:solidFill>
                  <a:srgbClr val="EC4899"/>
                </a:solidFill>
              </a:rPr>
              <a:t>🚨 STOPPING THE TOKENMAXXING CRISIS FOR STARTUPS &amp; CFOS</a:t>
            </a:r>
          </a:p>
          <a:p>
            <a:pPr>
              <a:spcBef>
                <a:spcPts val="800"/>
              </a:spcBef>
            </a:pPr>
            <a:r>
              <a:rPr b="1" sz="3600">
                <a:solidFill>
                  <a:srgbClr val="F8FAFC"/>
                </a:solidFill>
              </a:rPr>
              <a:t>Flattening the Path to the </a:t>
            </a:r>
            <a:r>
              <a:rPr b="1" sz="3600">
                <a:solidFill>
                  <a:srgbClr val="00F0FF"/>
                </a:solidFill>
              </a:rPr>
              <a:t>First Dollar in AI</a:t>
            </a:r>
          </a:p>
          <a:p>
            <a:pPr>
              <a:spcBef>
                <a:spcPts val="800"/>
              </a:spcBef>
            </a:pPr>
            <a:r>
              <a:rPr sz="1400">
                <a:solidFill>
                  <a:srgbClr val="94A3B8"/>
                </a:solidFill>
              </a:rPr>
              <a:t>From prototype to profitable revenue in 15 minutes. Rescuing CFOs, enterprises, and startups from runaway tokenmaxxing bills and negative unit economics.</a:t>
            </a:r>
          </a:p>
        </p:txBody>
      </p:sp>
      <p:sp>
        <p:nvSpPr>
          <p:cNvPr id="6" name="Rounded Rectangle 5"/>
          <p:cNvSpPr/>
          <p:nvPr/>
        </p:nvSpPr>
        <p:spPr>
          <a:xfrm>
            <a:off x="731520" y="3291840"/>
            <a:ext cx="2468880" cy="2011680"/>
          </a:xfrm>
          <a:prstGeom prst="roundRect">
            <a:avLst/>
          </a:prstGeom>
          <a:solidFill>
            <a:srgbClr val="0D121E"/>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611880"/>
            <a:ext cx="2194560" cy="1371600"/>
          </a:xfrm>
          <a:prstGeom prst="rect">
            <a:avLst/>
          </a:prstGeom>
          <a:noFill/>
        </p:spPr>
        <p:txBody>
          <a:bodyPr wrap="square">
            <a:spAutoFit/>
          </a:bodyPr>
          <a:lstStyle/>
          <a:p>
            <a:pPr algn="ctr"/>
            <a:r>
              <a:rPr b="1" sz="2800">
                <a:solidFill>
                  <a:srgbClr val="00F0FF"/>
                </a:solidFill>
              </a:rPr>
              <a:t>15 Min</a:t>
            </a:r>
          </a:p>
          <a:p>
            <a:pPr algn="ctr">
              <a:spcBef>
                <a:spcPts val="1200"/>
              </a:spcBef>
            </a:pPr>
            <a:r>
              <a:rPr sz="1200">
                <a:solidFill>
                  <a:srgbClr val="94A3B8"/>
                </a:solidFill>
              </a:rPr>
              <a:t>To Profitable Revenue</a:t>
            </a:r>
          </a:p>
        </p:txBody>
      </p:sp>
      <p:sp>
        <p:nvSpPr>
          <p:cNvPr id="8" name="Rounded Rectangle 7"/>
          <p:cNvSpPr/>
          <p:nvPr/>
        </p:nvSpPr>
        <p:spPr>
          <a:xfrm>
            <a:off x="3483864" y="3291840"/>
            <a:ext cx="2468880" cy="2011680"/>
          </a:xfrm>
          <a:prstGeom prst="roundRect">
            <a:avLst/>
          </a:prstGeom>
          <a:solidFill>
            <a:srgbClr val="0D121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21024" y="3611880"/>
            <a:ext cx="2194560" cy="1371600"/>
          </a:xfrm>
          <a:prstGeom prst="rect">
            <a:avLst/>
          </a:prstGeom>
          <a:noFill/>
        </p:spPr>
        <p:txBody>
          <a:bodyPr wrap="square">
            <a:spAutoFit/>
          </a:bodyPr>
          <a:lstStyle/>
          <a:p>
            <a:pPr algn="ctr"/>
            <a:r>
              <a:rPr b="1" sz="2800">
                <a:solidFill>
                  <a:srgbClr val="10B981"/>
                </a:solidFill>
              </a:rPr>
              <a:t>-$38,000</a:t>
            </a:r>
          </a:p>
          <a:p>
            <a:pPr algn="ctr">
              <a:spcBef>
                <a:spcPts val="1200"/>
              </a:spcBef>
            </a:pPr>
            <a:r>
              <a:rPr sz="1200">
                <a:solidFill>
                  <a:srgbClr val="94A3B8"/>
                </a:solidFill>
              </a:rPr>
              <a:t>CFO Cash Saved Day 1</a:t>
            </a:r>
          </a:p>
        </p:txBody>
      </p:sp>
      <p:sp>
        <p:nvSpPr>
          <p:cNvPr id="10" name="Rounded Rectangle 9"/>
          <p:cNvSpPr/>
          <p:nvPr/>
        </p:nvSpPr>
        <p:spPr>
          <a:xfrm>
            <a:off x="6236208" y="3291840"/>
            <a:ext cx="2468880" cy="2011680"/>
          </a:xfrm>
          <a:prstGeom prst="roundRect">
            <a:avLst/>
          </a:prstGeom>
          <a:solidFill>
            <a:srgbClr val="0D121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3368" y="3611880"/>
            <a:ext cx="2194560" cy="1371600"/>
          </a:xfrm>
          <a:prstGeom prst="rect">
            <a:avLst/>
          </a:prstGeom>
          <a:noFill/>
        </p:spPr>
        <p:txBody>
          <a:bodyPr wrap="square">
            <a:spAutoFit/>
          </a:bodyPr>
          <a:lstStyle/>
          <a:p>
            <a:pPr algn="ctr"/>
            <a:r>
              <a:rPr b="1" sz="2800">
                <a:solidFill>
                  <a:srgbClr val="A855F7"/>
                </a:solidFill>
              </a:rPr>
              <a:t>120k+</a:t>
            </a:r>
          </a:p>
          <a:p>
            <a:pPr algn="ctr">
              <a:spcBef>
                <a:spcPts val="1200"/>
              </a:spcBef>
            </a:pPr>
            <a:r>
              <a:rPr sz="1200">
                <a:solidFill>
                  <a:srgbClr val="94A3B8"/>
                </a:solidFill>
              </a:rPr>
              <a:t>Lifetime Installs (9 Mo)</a:t>
            </a:r>
          </a:p>
        </p:txBody>
      </p:sp>
      <p:sp>
        <p:nvSpPr>
          <p:cNvPr id="12" name="Rounded Rectangle 11"/>
          <p:cNvSpPr/>
          <p:nvPr/>
        </p:nvSpPr>
        <p:spPr>
          <a:xfrm>
            <a:off x="8988552" y="3291840"/>
            <a:ext cx="2468880" cy="2011680"/>
          </a:xfrm>
          <a:prstGeom prst="roundRect">
            <a:avLst/>
          </a:prstGeom>
          <a:solidFill>
            <a:srgbClr val="0D121E"/>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25712" y="3611880"/>
            <a:ext cx="2194560" cy="1371600"/>
          </a:xfrm>
          <a:prstGeom prst="rect">
            <a:avLst/>
          </a:prstGeom>
          <a:noFill/>
        </p:spPr>
        <p:txBody>
          <a:bodyPr wrap="square">
            <a:spAutoFit/>
          </a:bodyPr>
          <a:lstStyle/>
          <a:p>
            <a:pPr algn="ctr"/>
            <a:r>
              <a:rPr b="1" sz="2800">
                <a:solidFill>
                  <a:srgbClr val="00F0FF"/>
                </a:solidFill>
              </a:rPr>
              <a:t>138%</a:t>
            </a:r>
          </a:p>
          <a:p>
            <a:pPr algn="ctr">
              <a:spcBef>
                <a:spcPts val="1200"/>
              </a:spcBef>
            </a:pPr>
            <a:r>
              <a:rPr sz="1200">
                <a:solidFill>
                  <a:srgbClr val="94A3B8"/>
                </a:solidFill>
              </a:rPr>
              <a:t>Net Dollar Retention</a:t>
            </a:r>
          </a:p>
        </p:txBody>
      </p:sp>
      <p:sp>
        <p:nvSpPr>
          <p:cNvPr id="14" name="TextBox 13"/>
          <p:cNvSpPr txBox="1"/>
          <p:nvPr/>
        </p:nvSpPr>
        <p:spPr>
          <a:xfrm>
            <a:off x="731520" y="5760720"/>
            <a:ext cx="10728655" cy="457200"/>
          </a:xfrm>
          <a:prstGeom prst="rect">
            <a:avLst/>
          </a:prstGeom>
          <a:noFill/>
        </p:spPr>
        <p:txBody>
          <a:bodyPr wrap="none">
            <a:spAutoFit/>
          </a:bodyPr>
          <a:lstStyle/>
          <a:p>
            <a:r>
              <a:rPr sz="1100">
                <a:solidFill>
                  <a:srgbClr val="64748B"/>
                </a:solidFill>
              </a:rPr>
              <a:t>Platform: https://galx.ai    •    Stage: 2026 Private Beta (Core Built &amp; Tested)    •    Contact: willcruzanswers@gmail.com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457200"/>
          </a:xfrm>
          <a:prstGeom prst="rect">
            <a:avLst/>
          </a:prstGeom>
          <a:noFill/>
        </p:spPr>
        <p:txBody>
          <a:bodyPr wrap="square" lIns="0" tIns="0" rIns="0" bIns="0">
            <a:spAutoFit/>
          </a:bodyPr>
          <a:lstStyle/>
          <a:p>
            <a:r>
              <a:rPr b="1" sz="1400">
                <a:solidFill>
                  <a:srgbClr val="00F0FF"/>
                </a:solidFill>
              </a:rPr>
              <a:t>GALXAI </a:t>
            </a:r>
            <a:r>
              <a:rPr sz="1100">
                <a:solidFill>
                  <a:srgbClr val="94A3B8"/>
                </a:solidFill>
              </a:rPr>
              <a:t>•  Halting the Tokenmaxxing Crisis</a:t>
            </a:r>
          </a:p>
        </p:txBody>
      </p:sp>
      <p:sp>
        <p:nvSpPr>
          <p:cNvPr id="4" name="TextBox 3"/>
          <p:cNvSpPr txBox="1"/>
          <p:nvPr/>
        </p:nvSpPr>
        <p:spPr>
          <a:xfrm>
            <a:off x="9601200" y="365760"/>
            <a:ext cx="1828800" cy="457200"/>
          </a:xfrm>
          <a:prstGeom prst="rect">
            <a:avLst/>
          </a:prstGeom>
          <a:noFill/>
        </p:spPr>
        <p:txBody>
          <a:bodyPr wrap="none" lIns="0" tIns="0" rIns="0" bIns="0">
            <a:spAutoFit/>
          </a:bodyPr>
          <a:lstStyle/>
          <a:p>
            <a:pPr algn="r"/>
            <a:r>
              <a:rPr b="1" sz="1100">
                <a:solidFill>
                  <a:srgbClr val="94A3B8"/>
                </a:solidFill>
              </a:rPr>
              <a:t>Slide 2 / 8</a:t>
            </a:r>
          </a:p>
        </p:txBody>
      </p:sp>
      <p:sp>
        <p:nvSpPr>
          <p:cNvPr id="5" name="TextBox 4"/>
          <p:cNvSpPr txBox="1"/>
          <p:nvPr/>
        </p:nvSpPr>
        <p:spPr>
          <a:xfrm>
            <a:off x="731520" y="914400"/>
            <a:ext cx="10728655" cy="1188720"/>
          </a:xfrm>
          <a:prstGeom prst="rect">
            <a:avLst/>
          </a:prstGeom>
          <a:noFill/>
        </p:spPr>
        <p:txBody>
          <a:bodyPr wrap="square">
            <a:spAutoFit/>
          </a:bodyPr>
          <a:lstStyle/>
          <a:p>
            <a:r>
              <a:rPr b="1" sz="1100">
                <a:solidFill>
                  <a:srgbClr val="EC4899"/>
                </a:solidFill>
              </a:rPr>
              <a:t>SLIDE 02 / THE CRISIS</a:t>
            </a:r>
          </a:p>
          <a:p>
            <a:pPr>
              <a:spcBef>
                <a:spcPts val="400"/>
              </a:spcBef>
            </a:pPr>
            <a:r>
              <a:rPr b="1" sz="2800">
                <a:solidFill>
                  <a:srgbClr val="F8FAFC"/>
                </a:solidFill>
              </a:rPr>
              <a:t>The Crisis: </a:t>
            </a:r>
            <a:r>
              <a:rPr b="1" sz="2800">
                <a:solidFill>
                  <a:srgbClr val="EC4899"/>
                </a:solidFill>
              </a:rPr>
              <a:t>"Tokenmaxxing" is Spiraling Out of Control</a:t>
            </a:r>
          </a:p>
          <a:p>
            <a:pPr>
              <a:spcBef>
                <a:spcPts val="400"/>
              </a:spcBef>
            </a:pPr>
            <a:r>
              <a:rPr sz="1300">
                <a:solidFill>
                  <a:srgbClr val="94A3B8"/>
                </a:solidFill>
              </a:rPr>
              <a:t>Uncontrolled token consumption is bankrupting AI startups, blowing enterprise budgets, and terrifying CFOs.</a:t>
            </a:r>
          </a:p>
        </p:txBody>
      </p:sp>
      <p:sp>
        <p:nvSpPr>
          <p:cNvPr id="6" name="Rounded Rectangle 5"/>
          <p:cNvSpPr/>
          <p:nvPr/>
        </p:nvSpPr>
        <p:spPr>
          <a:xfrm>
            <a:off x="731520" y="2377440"/>
            <a:ext cx="3383280" cy="2926080"/>
          </a:xfrm>
          <a:prstGeom prst="roundRect">
            <a:avLst/>
          </a:prstGeom>
          <a:solidFill>
            <a:srgbClr val="0D121E"/>
          </a:solidFill>
          <a:ln w="1905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60320"/>
            <a:ext cx="2926080" cy="2560320"/>
          </a:xfrm>
          <a:prstGeom prst="rect">
            <a:avLst/>
          </a:prstGeom>
          <a:noFill/>
        </p:spPr>
        <p:txBody>
          <a:bodyPr wrap="square">
            <a:spAutoFit/>
          </a:bodyPr>
          <a:lstStyle/>
          <a:p>
            <a:r>
              <a:rPr b="1" sz="1600">
                <a:solidFill>
                  <a:srgbClr val="EC4899"/>
                </a:solidFill>
              </a:rPr>
              <a:t>1. The SaaS Margin Trap</a:t>
            </a:r>
          </a:p>
          <a:p>
            <a:pPr>
              <a:spcBef>
                <a:spcPts val="1000"/>
              </a:spcBef>
            </a:pPr>
            <a:r>
              <a:rPr sz="1200">
                <a:solidFill>
                  <a:srgbClr val="F8FAFC"/>
                </a:solidFill>
              </a:rPr>
              <a:t>A SaaS app charges $20/user/mo, but heavy user tokenmaxxing triggers $45/user/mo in retail API bills. More users = faster bankruptcy.</a:t>
            </a:r>
          </a:p>
          <a:p>
            <a:pPr>
              <a:spcBef>
                <a:spcPts val="1600"/>
              </a:spcBef>
            </a:pPr>
            <a:r>
              <a:rPr b="1" sz="1000">
                <a:solidFill>
                  <a:srgbClr val="EC4899"/>
                </a:solidFill>
              </a:rPr>
              <a:t>[Negative Gross Margins]</a:t>
            </a:r>
          </a:p>
        </p:txBody>
      </p:sp>
      <p:sp>
        <p:nvSpPr>
          <p:cNvPr id="8" name="Rounded Rectangle 7"/>
          <p:cNvSpPr/>
          <p:nvPr/>
        </p:nvSpPr>
        <p:spPr>
          <a:xfrm>
            <a:off x="4398264" y="2377440"/>
            <a:ext cx="3383280" cy="2926080"/>
          </a:xfrm>
          <a:prstGeom prst="roundRect">
            <a:avLst/>
          </a:prstGeom>
          <a:solidFill>
            <a:srgbClr val="0D121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26864" y="2560320"/>
            <a:ext cx="2926080" cy="2560320"/>
          </a:xfrm>
          <a:prstGeom prst="rect">
            <a:avLst/>
          </a:prstGeom>
          <a:noFill/>
        </p:spPr>
        <p:txBody>
          <a:bodyPr wrap="square">
            <a:spAutoFit/>
          </a:bodyPr>
          <a:lstStyle/>
          <a:p>
            <a:r>
              <a:rPr b="1" sz="1600">
                <a:solidFill>
                  <a:srgbClr val="F59E0B"/>
                </a:solidFill>
              </a:rPr>
              <a:t>2. CFO Invoicing Shock</a:t>
            </a:r>
          </a:p>
          <a:p>
            <a:pPr>
              <a:spcBef>
                <a:spcPts val="1000"/>
              </a:spcBef>
            </a:pPr>
            <a:r>
              <a:rPr sz="1200">
                <a:solidFill>
                  <a:srgbClr val="F8FAFC"/>
                </a:solidFill>
              </a:rPr>
              <a:t>Enterprises watch AI compute bills explode from $10k to $150k+/mo overnight as engineers connect agents and context-bloated workflows.</a:t>
            </a:r>
          </a:p>
          <a:p>
            <a:pPr>
              <a:spcBef>
                <a:spcPts val="1600"/>
              </a:spcBef>
            </a:pPr>
            <a:r>
              <a:rPr b="1" sz="1000">
                <a:solidFill>
                  <a:srgbClr val="F59E0B"/>
                </a:solidFill>
              </a:rPr>
              <a:t>[Unpredictable 5-Figure Burn]</a:t>
            </a:r>
          </a:p>
        </p:txBody>
      </p:sp>
      <p:sp>
        <p:nvSpPr>
          <p:cNvPr id="10" name="Rounded Rectangle 9"/>
          <p:cNvSpPr/>
          <p:nvPr/>
        </p:nvSpPr>
        <p:spPr>
          <a:xfrm>
            <a:off x="8065008" y="2377440"/>
            <a:ext cx="3383280" cy="2926080"/>
          </a:xfrm>
          <a:prstGeom prst="roundRect">
            <a:avLst/>
          </a:prstGeom>
          <a:solidFill>
            <a:srgbClr val="0D121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3608" y="2560320"/>
            <a:ext cx="2926080" cy="2560320"/>
          </a:xfrm>
          <a:prstGeom prst="rect">
            <a:avLst/>
          </a:prstGeom>
          <a:noFill/>
        </p:spPr>
        <p:txBody>
          <a:bodyPr wrap="square">
            <a:spAutoFit/>
          </a:bodyPr>
          <a:lstStyle/>
          <a:p>
            <a:r>
              <a:rPr b="1" sz="1600">
                <a:solidFill>
                  <a:srgbClr val="A855F7"/>
                </a:solidFill>
              </a:rPr>
              <a:t>3. 100x Agent Token Loop</a:t>
            </a:r>
          </a:p>
          <a:p>
            <a:pPr>
              <a:spcBef>
                <a:spcPts val="1000"/>
              </a:spcBef>
            </a:pPr>
            <a:r>
              <a:rPr sz="1200">
                <a:solidFill>
                  <a:srgbClr val="F8FAFC"/>
                </a:solidFill>
              </a:rPr>
              <a:t>Autonomous agents (Cursor, Claude Code, subagent fleets) consume 50x–200x more tokens than chat, repeating bloated prompts endlessly.</a:t>
            </a:r>
          </a:p>
          <a:p>
            <a:pPr>
              <a:spcBef>
                <a:spcPts val="1600"/>
              </a:spcBef>
            </a:pPr>
            <a:r>
              <a:rPr b="1" sz="1000">
                <a:solidFill>
                  <a:srgbClr val="A855F7"/>
                </a:solidFill>
              </a:rPr>
              <a:t>[Runaway Token Loops]</a:t>
            </a:r>
          </a:p>
        </p:txBody>
      </p:sp>
      <p:sp>
        <p:nvSpPr>
          <p:cNvPr id="12" name="TextBox 11"/>
          <p:cNvSpPr txBox="1"/>
          <p:nvPr/>
        </p:nvSpPr>
        <p:spPr>
          <a:xfrm>
            <a:off x="731520" y="5577840"/>
            <a:ext cx="10728655" cy="548640"/>
          </a:xfrm>
          <a:prstGeom prst="rect">
            <a:avLst/>
          </a:prstGeom>
          <a:noFill/>
        </p:spPr>
        <p:txBody>
          <a:bodyPr wrap="none">
            <a:spAutoFit/>
          </a:bodyPr>
          <a:lstStyle/>
          <a:p>
            <a:pPr algn="ctr"/>
            <a:r>
              <a:rPr b="1" sz="1200">
                <a:solidFill>
                  <a:srgbClr val="EC4899"/>
                </a:solidFill>
              </a:rPr>
              <a:t>🚨 The CFO Mandate: "Make the bleeding stop." Companies need an immediate circuit breaker and economic clearinghouse.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457200"/>
          </a:xfrm>
          <a:prstGeom prst="rect">
            <a:avLst/>
          </a:prstGeom>
          <a:noFill/>
        </p:spPr>
        <p:txBody>
          <a:bodyPr wrap="square" lIns="0" tIns="0" rIns="0" bIns="0">
            <a:spAutoFit/>
          </a:bodyPr>
          <a:lstStyle/>
          <a:p>
            <a:r>
              <a:rPr b="1" sz="1400">
                <a:solidFill>
                  <a:srgbClr val="00F0FF"/>
                </a:solidFill>
              </a:rPr>
              <a:t>GALXAI </a:t>
            </a:r>
            <a:r>
              <a:rPr sz="1100">
                <a:solidFill>
                  <a:srgbClr val="94A3B8"/>
                </a:solidFill>
              </a:rPr>
              <a:t>•  Halting the Tokenmaxxing Crisis</a:t>
            </a:r>
          </a:p>
        </p:txBody>
      </p:sp>
      <p:sp>
        <p:nvSpPr>
          <p:cNvPr id="4" name="TextBox 3"/>
          <p:cNvSpPr txBox="1"/>
          <p:nvPr/>
        </p:nvSpPr>
        <p:spPr>
          <a:xfrm>
            <a:off x="9601200" y="365760"/>
            <a:ext cx="1828800" cy="457200"/>
          </a:xfrm>
          <a:prstGeom prst="rect">
            <a:avLst/>
          </a:prstGeom>
          <a:noFill/>
        </p:spPr>
        <p:txBody>
          <a:bodyPr wrap="none" lIns="0" tIns="0" rIns="0" bIns="0">
            <a:spAutoFit/>
          </a:bodyPr>
          <a:lstStyle/>
          <a:p>
            <a:pPr algn="r"/>
            <a:r>
              <a:rPr b="1" sz="1100">
                <a:solidFill>
                  <a:srgbClr val="94A3B8"/>
                </a:solidFill>
              </a:rPr>
              <a:t>Slide 3 / 8</a:t>
            </a:r>
          </a:p>
        </p:txBody>
      </p:sp>
      <p:sp>
        <p:nvSpPr>
          <p:cNvPr id="5" name="TextBox 4"/>
          <p:cNvSpPr txBox="1"/>
          <p:nvPr/>
        </p:nvSpPr>
        <p:spPr>
          <a:xfrm>
            <a:off x="731520" y="914400"/>
            <a:ext cx="10728655" cy="1188720"/>
          </a:xfrm>
          <a:prstGeom prst="rect">
            <a:avLst/>
          </a:prstGeom>
          <a:noFill/>
        </p:spPr>
        <p:txBody>
          <a:bodyPr wrap="square">
            <a:spAutoFit/>
          </a:bodyPr>
          <a:lstStyle/>
          <a:p>
            <a:r>
              <a:rPr b="1" sz="1100">
                <a:solidFill>
                  <a:srgbClr val="EC4899"/>
                </a:solidFill>
              </a:rPr>
              <a:t>SLIDE 03 / THE ENGINEERING &amp; COST TRAP</a:t>
            </a:r>
          </a:p>
          <a:p>
            <a:pPr>
              <a:spcBef>
                <a:spcPts val="400"/>
              </a:spcBef>
            </a:pPr>
            <a:r>
              <a:rPr b="1" sz="2800">
                <a:solidFill>
                  <a:srgbClr val="F8FAFC"/>
                </a:solidFill>
              </a:rPr>
              <a:t>Why Companies </a:t>
            </a:r>
            <a:r>
              <a:rPr b="1" sz="2800">
                <a:solidFill>
                  <a:srgbClr val="EC4899"/>
                </a:solidFill>
              </a:rPr>
              <a:t>Can't Stop the Bleed on Their Own</a:t>
            </a:r>
          </a:p>
          <a:p>
            <a:pPr>
              <a:spcBef>
                <a:spcPts val="400"/>
              </a:spcBef>
            </a:pPr>
            <a:r>
              <a:rPr sz="1300">
                <a:solidFill>
                  <a:srgbClr val="94A3B8"/>
                </a:solidFill>
              </a:rPr>
              <a:t>Engineering teams burn precious runway on custom plumbing, only to deploy an uncontrolled cash incinerator.</a:t>
            </a:r>
          </a:p>
        </p:txBody>
      </p:sp>
      <p:sp>
        <p:nvSpPr>
          <p:cNvPr id="6" name="Rounded Rectangle 5"/>
          <p:cNvSpPr/>
          <p:nvPr/>
        </p:nvSpPr>
        <p:spPr>
          <a:xfrm>
            <a:off x="731520" y="2377440"/>
            <a:ext cx="5212080" cy="3017520"/>
          </a:xfrm>
          <a:prstGeom prst="roundRect">
            <a:avLst/>
          </a:prstGeom>
          <a:solidFill>
            <a:srgbClr val="0D121E"/>
          </a:solidFill>
          <a:ln w="1905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560320"/>
            <a:ext cx="4663440" cy="2743200"/>
          </a:xfrm>
          <a:prstGeom prst="rect">
            <a:avLst/>
          </a:prstGeom>
          <a:noFill/>
        </p:spPr>
        <p:txBody>
          <a:bodyPr wrap="square">
            <a:spAutoFit/>
          </a:bodyPr>
          <a:lstStyle/>
          <a:p>
            <a:r>
              <a:rPr b="1" sz="1000">
                <a:solidFill>
                  <a:srgbClr val="EC4899"/>
                </a:solidFill>
              </a:rPr>
              <a:t>[THE 4-WEEK PAYROLL TRAP]</a:t>
            </a:r>
          </a:p>
          <a:p>
            <a:pPr>
              <a:spcBef>
                <a:spcPts val="600"/>
              </a:spcBef>
            </a:pPr>
            <a:r>
              <a:rPr b="1" sz="1700">
                <a:solidFill>
                  <a:srgbClr val="F8FAFC"/>
                </a:solidFill>
              </a:rPr>
              <a:t>$150k+ Burned on Backend Plumbing</a:t>
            </a:r>
          </a:p>
          <a:p>
            <a:pPr>
              <a:spcBef>
                <a:spcPts val="400"/>
              </a:spcBef>
            </a:pPr>
            <a:r>
              <a:rPr b="1" sz="1200">
                <a:solidFill>
                  <a:srgbClr val="EC4899"/>
                </a:solidFill>
              </a:rPr>
              <a:t>• 3–6 Weeks Wasted before collecting revenue</a:t>
            </a:r>
          </a:p>
          <a:p>
            <a:pPr>
              <a:spcBef>
                <a:spcPts val="400"/>
              </a:spcBef>
            </a:pPr>
            <a:r>
              <a:rPr sz="1150">
                <a:solidFill>
                  <a:srgbClr val="94A3B8"/>
                </a:solidFill>
              </a:rPr>
              <a:t>– Senior engineers forced to build custom proxy infrastructure from scratch</a:t>
            </a:r>
          </a:p>
          <a:p>
            <a:pPr>
              <a:spcBef>
                <a:spcPts val="400"/>
              </a:spcBef>
            </a:pPr>
            <a:r>
              <a:rPr sz="1150">
                <a:solidFill>
                  <a:srgbClr val="94A3B8"/>
                </a:solidFill>
              </a:rPr>
              <a:t>– Wrangling streaming chunk drops, aspect ratios, and API key leak risks</a:t>
            </a:r>
          </a:p>
          <a:p>
            <a:pPr>
              <a:spcBef>
                <a:spcPts val="400"/>
              </a:spcBef>
            </a:pPr>
            <a:r>
              <a:rPr sz="1150">
                <a:solidFill>
                  <a:srgbClr val="94A3B8"/>
                </a:solidFill>
              </a:rPr>
              <a:t>– $150k+ in unbillable payroll vaporized before validating customer demand</a:t>
            </a:r>
          </a:p>
        </p:txBody>
      </p:sp>
      <p:sp>
        <p:nvSpPr>
          <p:cNvPr id="8" name="Rounded Rectangle 7"/>
          <p:cNvSpPr/>
          <p:nvPr/>
        </p:nvSpPr>
        <p:spPr>
          <a:xfrm>
            <a:off x="6245352" y="2377440"/>
            <a:ext cx="5212080" cy="3017520"/>
          </a:xfrm>
          <a:prstGeom prst="roundRect">
            <a:avLst/>
          </a:prstGeom>
          <a:solidFill>
            <a:srgbClr val="0D121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2560320"/>
            <a:ext cx="4663440" cy="2743200"/>
          </a:xfrm>
          <a:prstGeom prst="rect">
            <a:avLst/>
          </a:prstGeom>
          <a:noFill/>
        </p:spPr>
        <p:txBody>
          <a:bodyPr wrap="square">
            <a:spAutoFit/>
          </a:bodyPr>
          <a:lstStyle/>
          <a:p>
            <a:r>
              <a:rPr b="1" sz="1000">
                <a:solidFill>
                  <a:srgbClr val="F59E0B"/>
                </a:solidFill>
              </a:rPr>
              <a:t>[THE UNMANAGED CASH BLEED]</a:t>
            </a:r>
          </a:p>
          <a:p>
            <a:pPr>
              <a:spcBef>
                <a:spcPts val="600"/>
              </a:spcBef>
            </a:pPr>
            <a:r>
              <a:rPr b="1" sz="1700">
                <a:solidFill>
                  <a:srgbClr val="F8FAFC"/>
                </a:solidFill>
              </a:rPr>
              <a:t>40%–70% Burned on Retail Waste</a:t>
            </a:r>
          </a:p>
          <a:p>
            <a:pPr>
              <a:spcBef>
                <a:spcPts val="400"/>
              </a:spcBef>
            </a:pPr>
            <a:r>
              <a:rPr b="1" sz="1200">
                <a:solidFill>
                  <a:srgbClr val="F59E0B"/>
                </a:solidFill>
              </a:rPr>
              <a:t>• 400x Cost Penalty before collecting revenue</a:t>
            </a:r>
          </a:p>
          <a:p>
            <a:pPr>
              <a:spcBef>
                <a:spcPts val="400"/>
              </a:spcBef>
            </a:pPr>
            <a:r>
              <a:rPr sz="1150">
                <a:solidFill>
                  <a:srgbClr val="94A3B8"/>
                </a:solidFill>
              </a:rPr>
              <a:t>– Developers route trivial tasks to $60/M o1-pro flagship models</a:t>
            </a:r>
          </a:p>
          <a:p>
            <a:pPr>
              <a:spcBef>
                <a:spcPts val="400"/>
              </a:spcBef>
            </a:pPr>
            <a:r>
              <a:rPr sz="1150">
                <a:solidFill>
                  <a:srgbClr val="94A3B8"/>
                </a:solidFill>
              </a:rPr>
              <a:t>– 100k+ token context dumps regurgitate stale logs, inflating costs 10x</a:t>
            </a:r>
          </a:p>
          <a:p>
            <a:pPr>
              <a:spcBef>
                <a:spcPts val="400"/>
              </a:spcBef>
            </a:pPr>
            <a:r>
              <a:rPr sz="1150">
                <a:solidFill>
                  <a:srgbClr val="94A3B8"/>
                </a:solidFill>
              </a:rPr>
              <a:t>– Unchecked recursive subagent loops trigger surprise 5-figure overnight spikes</a:t>
            </a:r>
          </a:p>
        </p:txBody>
      </p:sp>
      <p:sp>
        <p:nvSpPr>
          <p:cNvPr id="10" name="TextBox 9"/>
          <p:cNvSpPr txBox="1"/>
          <p:nvPr/>
        </p:nvSpPr>
        <p:spPr>
          <a:xfrm>
            <a:off x="731520" y="5577840"/>
            <a:ext cx="10728655" cy="548640"/>
          </a:xfrm>
          <a:prstGeom prst="rect">
            <a:avLst/>
          </a:prstGeom>
          <a:noFill/>
        </p:spPr>
        <p:txBody>
          <a:bodyPr wrap="none">
            <a:spAutoFit/>
          </a:bodyPr>
          <a:lstStyle/>
          <a:p>
            <a:pPr algn="ctr"/>
            <a:r>
              <a:rPr b="1" sz="1200">
                <a:solidFill>
                  <a:srgbClr val="EC4899"/>
                </a:solidFill>
              </a:rPr>
              <a:t>🚨 The Result: Startups vaporize seed runway in 90 days, and Enterprise CFOs freeze AI roadmaps in panic.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457200"/>
          </a:xfrm>
          <a:prstGeom prst="rect">
            <a:avLst/>
          </a:prstGeom>
          <a:noFill/>
        </p:spPr>
        <p:txBody>
          <a:bodyPr wrap="square" lIns="0" tIns="0" rIns="0" bIns="0">
            <a:spAutoFit/>
          </a:bodyPr>
          <a:lstStyle/>
          <a:p>
            <a:r>
              <a:rPr b="1" sz="1400">
                <a:solidFill>
                  <a:srgbClr val="00F0FF"/>
                </a:solidFill>
              </a:rPr>
              <a:t>GALXAI </a:t>
            </a:r>
            <a:r>
              <a:rPr sz="1100">
                <a:solidFill>
                  <a:srgbClr val="94A3B8"/>
                </a:solidFill>
              </a:rPr>
              <a:t>•  Halting the Tokenmaxxing Crisis</a:t>
            </a:r>
          </a:p>
        </p:txBody>
      </p:sp>
      <p:sp>
        <p:nvSpPr>
          <p:cNvPr id="4" name="TextBox 3"/>
          <p:cNvSpPr txBox="1"/>
          <p:nvPr/>
        </p:nvSpPr>
        <p:spPr>
          <a:xfrm>
            <a:off x="9601200" y="365760"/>
            <a:ext cx="1828800" cy="457200"/>
          </a:xfrm>
          <a:prstGeom prst="rect">
            <a:avLst/>
          </a:prstGeom>
          <a:noFill/>
        </p:spPr>
        <p:txBody>
          <a:bodyPr wrap="none" lIns="0" tIns="0" rIns="0" bIns="0">
            <a:spAutoFit/>
          </a:bodyPr>
          <a:lstStyle/>
          <a:p>
            <a:pPr algn="r"/>
            <a:r>
              <a:rPr b="1" sz="1100">
                <a:solidFill>
                  <a:srgbClr val="94A3B8"/>
                </a:solidFill>
              </a:rPr>
              <a:t>Slide 4 / 8</a:t>
            </a:r>
          </a:p>
        </p:txBody>
      </p:sp>
      <p:sp>
        <p:nvSpPr>
          <p:cNvPr id="5" name="TextBox 4"/>
          <p:cNvSpPr txBox="1"/>
          <p:nvPr/>
        </p:nvSpPr>
        <p:spPr>
          <a:xfrm>
            <a:off x="731520" y="914400"/>
            <a:ext cx="10728655" cy="1188720"/>
          </a:xfrm>
          <a:prstGeom prst="rect">
            <a:avLst/>
          </a:prstGeom>
          <a:noFill/>
        </p:spPr>
        <p:txBody>
          <a:bodyPr wrap="square">
            <a:spAutoFit/>
          </a:bodyPr>
          <a:lstStyle/>
          <a:p>
            <a:r>
              <a:rPr b="1" sz="1100">
                <a:solidFill>
                  <a:srgbClr val="00F0FF"/>
                </a:solidFill>
              </a:rPr>
              <a:t>SLIDE 04 / CONFLICTED INCENTIVES</a:t>
            </a:r>
          </a:p>
          <a:p>
            <a:pPr>
              <a:spcBef>
                <a:spcPts val="400"/>
              </a:spcBef>
            </a:pPr>
            <a:r>
              <a:rPr b="1" sz="2800">
                <a:solidFill>
                  <a:srgbClr val="F8FAFC"/>
                </a:solidFill>
              </a:rPr>
              <a:t>Why Model Labs </a:t>
            </a:r>
            <a:r>
              <a:rPr b="1" sz="2800">
                <a:solidFill>
                  <a:srgbClr val="00F0FF"/>
                </a:solidFill>
              </a:rPr>
              <a:t>Won't Stop the Pain</a:t>
            </a:r>
          </a:p>
          <a:p>
            <a:pPr>
              <a:spcBef>
                <a:spcPts val="400"/>
              </a:spcBef>
            </a:pPr>
            <a:r>
              <a:rPr sz="1300">
                <a:solidFill>
                  <a:srgbClr val="94A3B8"/>
                </a:solidFill>
              </a:rPr>
              <a:t>Existing players have conflicting incentives. Only GALXAI is built to eliminate tokenmaxxing waste.</a:t>
            </a:r>
          </a:p>
        </p:txBody>
      </p:sp>
      <p:sp>
        <p:nvSpPr>
          <p:cNvPr id="6" name="Rounded Rectangle 5"/>
          <p:cNvSpPr/>
          <p:nvPr/>
        </p:nvSpPr>
        <p:spPr>
          <a:xfrm>
            <a:off x="731520" y="2377440"/>
            <a:ext cx="3383280" cy="2926080"/>
          </a:xfrm>
          <a:prstGeom prst="roundRect">
            <a:avLst/>
          </a:prstGeom>
          <a:solidFill>
            <a:srgbClr val="0D121E"/>
          </a:solidFill>
          <a:ln w="1905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60320"/>
            <a:ext cx="2926080" cy="2560320"/>
          </a:xfrm>
          <a:prstGeom prst="rect">
            <a:avLst/>
          </a:prstGeom>
          <a:noFill/>
        </p:spPr>
        <p:txBody>
          <a:bodyPr wrap="square">
            <a:spAutoFit/>
          </a:bodyPr>
          <a:lstStyle/>
          <a:p>
            <a:r>
              <a:rPr b="1" sz="1600">
                <a:solidFill>
                  <a:srgbClr val="EC4899"/>
                </a:solidFill>
              </a:rPr>
              <a:t>OpenAI &amp; Anthropic</a:t>
            </a:r>
          </a:p>
          <a:p>
            <a:pPr>
              <a:spcBef>
                <a:spcPts val="400"/>
              </a:spcBef>
            </a:pPr>
            <a:r>
              <a:rPr b="1" sz="1200">
                <a:solidFill>
                  <a:srgbClr val="F8FAFC"/>
                </a:solidFill>
              </a:rPr>
              <a:t>Profits from Tokenmaxxing</a:t>
            </a:r>
          </a:p>
          <a:p>
            <a:pPr>
              <a:spcBef>
                <a:spcPts val="800"/>
              </a:spcBef>
            </a:pPr>
            <a:r>
              <a:rPr sz="1150">
                <a:solidFill>
                  <a:srgbClr val="94A3B8"/>
                </a:solidFill>
              </a:rPr>
              <a:t>Foundation labs sell retail tokens. They have zero incentive to compress prompts or pass wholesale bulk discounts.</a:t>
            </a:r>
          </a:p>
          <a:p>
            <a:pPr>
              <a:spcBef>
                <a:spcPts val="1400"/>
              </a:spcBef>
            </a:pPr>
            <a:r>
              <a:rPr b="1" sz="1000">
                <a:solidFill>
                  <a:srgbClr val="EC4899"/>
                </a:solidFill>
              </a:rPr>
              <a:t>[Incentivized to Burn]</a:t>
            </a:r>
          </a:p>
        </p:txBody>
      </p:sp>
      <p:sp>
        <p:nvSpPr>
          <p:cNvPr id="8" name="Rounded Rectangle 7"/>
          <p:cNvSpPr/>
          <p:nvPr/>
        </p:nvSpPr>
        <p:spPr>
          <a:xfrm>
            <a:off x="4398264" y="2377440"/>
            <a:ext cx="3383280" cy="2926080"/>
          </a:xfrm>
          <a:prstGeom prst="roundRect">
            <a:avLst/>
          </a:prstGeom>
          <a:solidFill>
            <a:srgbClr val="0D121E"/>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26864" y="2560320"/>
            <a:ext cx="2926080" cy="2560320"/>
          </a:xfrm>
          <a:prstGeom prst="rect">
            <a:avLst/>
          </a:prstGeom>
          <a:noFill/>
        </p:spPr>
        <p:txBody>
          <a:bodyPr wrap="square">
            <a:spAutoFit/>
          </a:bodyPr>
          <a:lstStyle/>
          <a:p>
            <a:r>
              <a:rPr b="1" sz="1600">
                <a:solidFill>
                  <a:srgbClr val="64748B"/>
                </a:solidFill>
              </a:rPr>
              <a:t>Dumb Proxy Routers</a:t>
            </a:r>
          </a:p>
          <a:p>
            <a:pPr>
              <a:spcBef>
                <a:spcPts val="400"/>
              </a:spcBef>
            </a:pPr>
            <a:r>
              <a:rPr b="1" sz="1200">
                <a:solidFill>
                  <a:srgbClr val="F8FAFC"/>
                </a:solidFill>
              </a:rPr>
              <a:t>Passes the Bill Along</a:t>
            </a:r>
          </a:p>
          <a:p>
            <a:pPr>
              <a:spcBef>
                <a:spcPts val="800"/>
              </a:spcBef>
            </a:pPr>
            <a:r>
              <a:rPr sz="1150">
                <a:solidFill>
                  <a:srgbClr val="94A3B8"/>
                </a:solidFill>
              </a:rPr>
              <a:t>OpenRouter and Cloudflare are simple byte pipes. They do not provide intelligent prompt compaction or spend circuit breakers.</a:t>
            </a:r>
          </a:p>
          <a:p>
            <a:pPr>
              <a:spcBef>
                <a:spcPts val="1400"/>
              </a:spcBef>
            </a:pPr>
            <a:r>
              <a:rPr b="1" sz="1000">
                <a:solidFill>
                  <a:srgbClr val="64748B"/>
                </a:solidFill>
              </a:rPr>
              <a:t>[0 Cost Optimization]</a:t>
            </a:r>
          </a:p>
        </p:txBody>
      </p:sp>
      <p:sp>
        <p:nvSpPr>
          <p:cNvPr id="10" name="Rounded Rectangle 9"/>
          <p:cNvSpPr/>
          <p:nvPr/>
        </p:nvSpPr>
        <p:spPr>
          <a:xfrm>
            <a:off x="8065008" y="2377440"/>
            <a:ext cx="3383280" cy="2926080"/>
          </a:xfrm>
          <a:prstGeom prst="roundRect">
            <a:avLst/>
          </a:prstGeom>
          <a:solidFill>
            <a:srgbClr val="0D121E"/>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3608" y="2560320"/>
            <a:ext cx="2926080" cy="2560320"/>
          </a:xfrm>
          <a:prstGeom prst="rect">
            <a:avLst/>
          </a:prstGeom>
          <a:noFill/>
        </p:spPr>
        <p:txBody>
          <a:bodyPr wrap="square">
            <a:spAutoFit/>
          </a:bodyPr>
          <a:lstStyle/>
          <a:p>
            <a:r>
              <a:rPr b="1" sz="1600">
                <a:solidFill>
                  <a:srgbClr val="00F0FF"/>
                </a:solidFill>
              </a:rPr>
              <a:t>GALXAI Clearinghouse</a:t>
            </a:r>
          </a:p>
          <a:p>
            <a:pPr>
              <a:spcBef>
                <a:spcPts val="400"/>
              </a:spcBef>
            </a:pPr>
            <a:r>
              <a:rPr b="1" sz="1200">
                <a:solidFill>
                  <a:srgbClr val="F8FAFC"/>
                </a:solidFill>
              </a:rPr>
              <a:t>The Antidote to Waste</a:t>
            </a:r>
          </a:p>
          <a:p>
            <a:pPr>
              <a:spcBef>
                <a:spcPts val="800"/>
              </a:spcBef>
            </a:pPr>
            <a:r>
              <a:rPr sz="1150">
                <a:solidFill>
                  <a:srgbClr val="94A3B8"/>
                </a:solidFill>
              </a:rPr>
              <a:t>We pool volume for 25%–40% wholesale discounts, strip prompt bloat by 60%–90%, and deploy in 15 minutes.</a:t>
            </a:r>
          </a:p>
          <a:p>
            <a:pPr>
              <a:spcBef>
                <a:spcPts val="1400"/>
              </a:spcBef>
            </a:pPr>
            <a:r>
              <a:rPr b="1" sz="1000">
                <a:solidFill>
                  <a:srgbClr val="00F0FF"/>
                </a:solidFill>
              </a:rPr>
              <a:t>[Economic Alignment]</a:t>
            </a:r>
          </a:p>
        </p:txBody>
      </p:sp>
      <p:sp>
        <p:nvSpPr>
          <p:cNvPr id="12" name="TextBox 11"/>
          <p:cNvSpPr txBox="1"/>
          <p:nvPr/>
        </p:nvSpPr>
        <p:spPr>
          <a:xfrm>
            <a:off x="731520" y="5577840"/>
            <a:ext cx="10728655" cy="548640"/>
          </a:xfrm>
          <a:prstGeom prst="rect">
            <a:avLst/>
          </a:prstGeom>
          <a:noFill/>
        </p:spPr>
        <p:txBody>
          <a:bodyPr wrap="none">
            <a:spAutoFit/>
          </a:bodyPr>
          <a:lstStyle/>
          <a:p>
            <a:pPr algn="ctr"/>
            <a:r>
              <a:rPr sz="1150">
                <a:solidFill>
                  <a:srgbClr val="94A3B8"/>
                </a:solidFill>
              </a:rPr>
              <a:t>✓ 25%–40% wholesale rebate passed to customer    •    ✓ 60%–90% prompt fluff trimmed    •    ✓ Automated spend circuit breakers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457200"/>
          </a:xfrm>
          <a:prstGeom prst="rect">
            <a:avLst/>
          </a:prstGeom>
          <a:noFill/>
        </p:spPr>
        <p:txBody>
          <a:bodyPr wrap="square" lIns="0" tIns="0" rIns="0" bIns="0">
            <a:spAutoFit/>
          </a:bodyPr>
          <a:lstStyle/>
          <a:p>
            <a:r>
              <a:rPr b="1" sz="1400">
                <a:solidFill>
                  <a:srgbClr val="00F0FF"/>
                </a:solidFill>
              </a:rPr>
              <a:t>GALXAI </a:t>
            </a:r>
            <a:r>
              <a:rPr sz="1100">
                <a:solidFill>
                  <a:srgbClr val="94A3B8"/>
                </a:solidFill>
              </a:rPr>
              <a:t>•  Halting the Tokenmaxxing Crisis</a:t>
            </a:r>
          </a:p>
        </p:txBody>
      </p:sp>
      <p:sp>
        <p:nvSpPr>
          <p:cNvPr id="4" name="TextBox 3"/>
          <p:cNvSpPr txBox="1"/>
          <p:nvPr/>
        </p:nvSpPr>
        <p:spPr>
          <a:xfrm>
            <a:off x="9601200" y="365760"/>
            <a:ext cx="1828800" cy="457200"/>
          </a:xfrm>
          <a:prstGeom prst="rect">
            <a:avLst/>
          </a:prstGeom>
          <a:noFill/>
        </p:spPr>
        <p:txBody>
          <a:bodyPr wrap="none" lIns="0" tIns="0" rIns="0" bIns="0">
            <a:spAutoFit/>
          </a:bodyPr>
          <a:lstStyle/>
          <a:p>
            <a:pPr algn="r"/>
            <a:r>
              <a:rPr b="1" sz="1100">
                <a:solidFill>
                  <a:srgbClr val="94A3B8"/>
                </a:solidFill>
              </a:rPr>
              <a:t>Slide 5 / 8</a:t>
            </a:r>
          </a:p>
        </p:txBody>
      </p:sp>
      <p:sp>
        <p:nvSpPr>
          <p:cNvPr id="5" name="TextBox 4"/>
          <p:cNvSpPr txBox="1"/>
          <p:nvPr/>
        </p:nvSpPr>
        <p:spPr>
          <a:xfrm>
            <a:off x="731520" y="914400"/>
            <a:ext cx="10728655" cy="1188720"/>
          </a:xfrm>
          <a:prstGeom prst="rect">
            <a:avLst/>
          </a:prstGeom>
          <a:noFill/>
        </p:spPr>
        <p:txBody>
          <a:bodyPr wrap="square">
            <a:spAutoFit/>
          </a:bodyPr>
          <a:lstStyle/>
          <a:p>
            <a:r>
              <a:rPr b="1" sz="1100">
                <a:solidFill>
                  <a:srgbClr val="00F0FF"/>
                </a:solidFill>
              </a:rPr>
              <a:t>SLIDE 05 / THE ANTIDOTE</a:t>
            </a:r>
          </a:p>
          <a:p>
            <a:pPr>
              <a:spcBef>
                <a:spcPts val="400"/>
              </a:spcBef>
            </a:pPr>
            <a:r>
              <a:rPr b="1" sz="2800">
                <a:solidFill>
                  <a:srgbClr val="F8FAFC"/>
                </a:solidFill>
              </a:rPr>
              <a:t>How GALXAI </a:t>
            </a:r>
            <a:r>
              <a:rPr b="1" sz="2800">
                <a:solidFill>
                  <a:srgbClr val="00F0FF"/>
                </a:solidFill>
              </a:rPr>
              <a:t>Makes the Pain Stop</a:t>
            </a:r>
          </a:p>
          <a:p>
            <a:pPr>
              <a:spcBef>
                <a:spcPts val="400"/>
              </a:spcBef>
            </a:pPr>
            <a:r>
              <a:rPr sz="1300">
                <a:solidFill>
                  <a:srgbClr val="94A3B8"/>
                </a:solidFill>
              </a:rPr>
              <a:t>A three-layer economic clearinghouse that halts runaway token burn and rescues product margins.</a:t>
            </a:r>
          </a:p>
        </p:txBody>
      </p:sp>
      <p:sp>
        <p:nvSpPr>
          <p:cNvPr id="6" name="Rounded Rectangle 5"/>
          <p:cNvSpPr/>
          <p:nvPr/>
        </p:nvSpPr>
        <p:spPr>
          <a:xfrm>
            <a:off x="731520" y="2377440"/>
            <a:ext cx="3383280" cy="2926080"/>
          </a:xfrm>
          <a:prstGeom prst="roundRect">
            <a:avLst/>
          </a:prstGeom>
          <a:solidFill>
            <a:srgbClr val="0D121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60320"/>
            <a:ext cx="2926080" cy="2560320"/>
          </a:xfrm>
          <a:prstGeom prst="rect">
            <a:avLst/>
          </a:prstGeom>
          <a:noFill/>
        </p:spPr>
        <p:txBody>
          <a:bodyPr wrap="square">
            <a:spAutoFit/>
          </a:bodyPr>
          <a:lstStyle/>
          <a:p>
            <a:r>
              <a:rPr b="1" sz="1600">
                <a:solidFill>
                  <a:srgbClr val="F8FAFC"/>
                </a:solidFill>
              </a:rPr>
              <a:t>1. Costco Wholesale Arbitrage</a:t>
            </a:r>
          </a:p>
          <a:p>
            <a:pPr>
              <a:spcBef>
                <a:spcPts val="1000"/>
              </a:spcBef>
            </a:pPr>
            <a:r>
              <a:rPr sz="1200">
                <a:solidFill>
                  <a:srgbClr val="94A3B8"/>
                </a:solidFill>
              </a:rPr>
              <a:t>We aggregate billions of tokens to buy Tier-5 bulk compute, passing 25%–40% wholesale discounts to customers to protect Day 1 margins.</a:t>
            </a:r>
          </a:p>
          <a:p>
            <a:pPr>
              <a:spcBef>
                <a:spcPts val="1600"/>
              </a:spcBef>
            </a:pPr>
            <a:r>
              <a:rPr b="1" sz="1000">
                <a:solidFill>
                  <a:srgbClr val="10B981"/>
                </a:solidFill>
              </a:rPr>
              <a:t>[Profitable Day 1]</a:t>
            </a:r>
          </a:p>
        </p:txBody>
      </p:sp>
      <p:sp>
        <p:nvSpPr>
          <p:cNvPr id="8" name="Rounded Rectangle 7"/>
          <p:cNvSpPr/>
          <p:nvPr/>
        </p:nvSpPr>
        <p:spPr>
          <a:xfrm>
            <a:off x="4398264" y="2377440"/>
            <a:ext cx="3383280" cy="2926080"/>
          </a:xfrm>
          <a:prstGeom prst="roundRect">
            <a:avLst/>
          </a:prstGeom>
          <a:solidFill>
            <a:srgbClr val="0D121E"/>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26864" y="2560320"/>
            <a:ext cx="2926080" cy="2560320"/>
          </a:xfrm>
          <a:prstGeom prst="rect">
            <a:avLst/>
          </a:prstGeom>
          <a:noFill/>
        </p:spPr>
        <p:txBody>
          <a:bodyPr wrap="square">
            <a:spAutoFit/>
          </a:bodyPr>
          <a:lstStyle/>
          <a:p>
            <a:r>
              <a:rPr b="1" sz="1600">
                <a:solidFill>
                  <a:srgbClr val="F8FAFC"/>
                </a:solidFill>
              </a:rPr>
              <a:t>2. 60%–90% Prompt Compaction</a:t>
            </a:r>
          </a:p>
          <a:p>
            <a:pPr>
              <a:spcBef>
                <a:spcPts val="1000"/>
              </a:spcBef>
            </a:pPr>
            <a:r>
              <a:rPr sz="1200">
                <a:solidFill>
                  <a:srgbClr val="94A3B8"/>
                </a:solidFill>
              </a:rPr>
              <a:t>Automated semantic fluff trimming strips bloated logs, ASTs, and redundant context with 0 regression errors across 180 domain tests.</a:t>
            </a:r>
          </a:p>
          <a:p>
            <a:pPr>
              <a:spcBef>
                <a:spcPts val="1600"/>
              </a:spcBef>
            </a:pPr>
            <a:r>
              <a:rPr b="1" sz="1000">
                <a:solidFill>
                  <a:srgbClr val="00F0FF"/>
                </a:solidFill>
              </a:rPr>
              <a:t>[Zero Information Loss]</a:t>
            </a:r>
          </a:p>
        </p:txBody>
      </p:sp>
      <p:sp>
        <p:nvSpPr>
          <p:cNvPr id="10" name="Rounded Rectangle 9"/>
          <p:cNvSpPr/>
          <p:nvPr/>
        </p:nvSpPr>
        <p:spPr>
          <a:xfrm>
            <a:off x="8065008" y="2377440"/>
            <a:ext cx="3383280" cy="2926080"/>
          </a:xfrm>
          <a:prstGeom prst="roundRect">
            <a:avLst/>
          </a:prstGeom>
          <a:solidFill>
            <a:srgbClr val="0D121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3608" y="2560320"/>
            <a:ext cx="2926080" cy="2560320"/>
          </a:xfrm>
          <a:prstGeom prst="rect">
            <a:avLst/>
          </a:prstGeom>
          <a:noFill/>
        </p:spPr>
        <p:txBody>
          <a:bodyPr wrap="square">
            <a:spAutoFit/>
          </a:bodyPr>
          <a:lstStyle/>
          <a:p>
            <a:r>
              <a:rPr b="1" sz="1600">
                <a:solidFill>
                  <a:srgbClr val="F8FAFC"/>
                </a:solidFill>
              </a:rPr>
              <a:t>3. Smart Downshifter &amp; Guard</a:t>
            </a:r>
          </a:p>
          <a:p>
            <a:pPr>
              <a:spcBef>
                <a:spcPts val="1000"/>
              </a:spcBef>
            </a:pPr>
            <a:r>
              <a:rPr sz="1200">
                <a:solidFill>
                  <a:srgbClr val="94A3B8"/>
                </a:solidFill>
              </a:rPr>
              <a:t>Automatically downshifts simple tasks from $60/M flagship models to fast tiers, fixes cache headers, and clamps infinite subagent loops.</a:t>
            </a:r>
          </a:p>
          <a:p>
            <a:pPr>
              <a:spcBef>
                <a:spcPts val="1600"/>
              </a:spcBef>
            </a:pPr>
            <a:r>
              <a:rPr b="1" sz="1000">
                <a:solidFill>
                  <a:srgbClr val="A855F7"/>
                </a:solidFill>
              </a:rPr>
              <a:t>[Predictable Unit Costs]</a:t>
            </a:r>
          </a:p>
        </p:txBody>
      </p:sp>
      <p:sp>
        <p:nvSpPr>
          <p:cNvPr id="12" name="TextBox 11"/>
          <p:cNvSpPr txBox="1"/>
          <p:nvPr/>
        </p:nvSpPr>
        <p:spPr>
          <a:xfrm>
            <a:off x="731520" y="5577840"/>
            <a:ext cx="10728655" cy="548640"/>
          </a:xfrm>
          <a:prstGeom prst="rect">
            <a:avLst/>
          </a:prstGeom>
          <a:noFill/>
        </p:spPr>
        <p:txBody>
          <a:bodyPr wrap="none">
            <a:spAutoFit/>
          </a:bodyPr>
          <a:lstStyle/>
          <a:p>
            <a:pPr algn="ctr"/>
            <a:r>
              <a:rPr b="1" sz="1200">
                <a:solidFill>
                  <a:srgbClr val="10B981"/>
                </a:solidFill>
              </a:rPr>
              <a:t>💡 The Economic Impact: Flips negative gross margin AI features (-20%) into immediate high-margin revenue (+50% to +68%).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457200"/>
          </a:xfrm>
          <a:prstGeom prst="rect">
            <a:avLst/>
          </a:prstGeom>
          <a:noFill/>
        </p:spPr>
        <p:txBody>
          <a:bodyPr wrap="square" lIns="0" tIns="0" rIns="0" bIns="0">
            <a:spAutoFit/>
          </a:bodyPr>
          <a:lstStyle/>
          <a:p>
            <a:r>
              <a:rPr b="1" sz="1400">
                <a:solidFill>
                  <a:srgbClr val="00F0FF"/>
                </a:solidFill>
              </a:rPr>
              <a:t>GALXAI </a:t>
            </a:r>
            <a:r>
              <a:rPr sz="1100">
                <a:solidFill>
                  <a:srgbClr val="94A3B8"/>
                </a:solidFill>
              </a:rPr>
              <a:t>•  Halting the Tokenmaxxing Crisis</a:t>
            </a:r>
          </a:p>
        </p:txBody>
      </p:sp>
      <p:sp>
        <p:nvSpPr>
          <p:cNvPr id="4" name="TextBox 3"/>
          <p:cNvSpPr txBox="1"/>
          <p:nvPr/>
        </p:nvSpPr>
        <p:spPr>
          <a:xfrm>
            <a:off x="9601200" y="365760"/>
            <a:ext cx="1828800" cy="457200"/>
          </a:xfrm>
          <a:prstGeom prst="rect">
            <a:avLst/>
          </a:prstGeom>
          <a:noFill/>
        </p:spPr>
        <p:txBody>
          <a:bodyPr wrap="none" lIns="0" tIns="0" rIns="0" bIns="0">
            <a:spAutoFit/>
          </a:bodyPr>
          <a:lstStyle/>
          <a:p>
            <a:pPr algn="r"/>
            <a:r>
              <a:rPr b="1" sz="1100">
                <a:solidFill>
                  <a:srgbClr val="94A3B8"/>
                </a:solidFill>
              </a:rPr>
              <a:t>Slide 6 / 8</a:t>
            </a:r>
          </a:p>
        </p:txBody>
      </p:sp>
      <p:sp>
        <p:nvSpPr>
          <p:cNvPr id="5" name="TextBox 4"/>
          <p:cNvSpPr txBox="1"/>
          <p:nvPr/>
        </p:nvSpPr>
        <p:spPr>
          <a:xfrm>
            <a:off x="731520" y="914400"/>
            <a:ext cx="10728655" cy="1188720"/>
          </a:xfrm>
          <a:prstGeom prst="rect">
            <a:avLst/>
          </a:prstGeom>
          <a:noFill/>
        </p:spPr>
        <p:txBody>
          <a:bodyPr wrap="square">
            <a:spAutoFit/>
          </a:bodyPr>
          <a:lstStyle/>
          <a:p>
            <a:r>
              <a:rPr b="1" sz="1100">
                <a:solidFill>
                  <a:srgbClr val="00F0FF"/>
                </a:solidFill>
              </a:rPr>
              <a:t>SLIDE 06 / THE INVOICING UNLOCK</a:t>
            </a:r>
          </a:p>
          <a:p>
            <a:pPr>
              <a:spcBef>
                <a:spcPts val="400"/>
              </a:spcBef>
            </a:pPr>
            <a:r>
              <a:rPr b="1" sz="2800">
                <a:solidFill>
                  <a:srgbClr val="F8FAFC"/>
                </a:solidFill>
              </a:rPr>
              <a:t>Net Spend Interception: </a:t>
            </a:r>
            <a:r>
              <a:rPr b="1" sz="2800">
                <a:solidFill>
                  <a:srgbClr val="10B981"/>
                </a:solidFill>
              </a:rPr>
              <a:t>-$38,000 Saved Day 1</a:t>
            </a:r>
          </a:p>
          <a:p>
            <a:pPr>
              <a:spcBef>
                <a:spcPts val="400"/>
              </a:spcBef>
            </a:pPr>
            <a:r>
              <a:rPr sz="1300">
                <a:solidFill>
                  <a:srgbClr val="94A3B8"/>
                </a:solidFill>
              </a:rPr>
              <a:t>Replacing expensive retail compute invoices with a single consolidated wholesale invoice.</a:t>
            </a:r>
          </a:p>
        </p:txBody>
      </p:sp>
      <p:sp>
        <p:nvSpPr>
          <p:cNvPr id="6" name="Rounded Rectangle 5"/>
          <p:cNvSpPr/>
          <p:nvPr/>
        </p:nvSpPr>
        <p:spPr>
          <a:xfrm>
            <a:off x="731520" y="2194560"/>
            <a:ext cx="10728655" cy="3200400"/>
          </a:xfrm>
          <a:prstGeom prst="roundRect">
            <a:avLst/>
          </a:prstGeom>
          <a:solidFill>
            <a:srgbClr val="0D121E"/>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77440"/>
            <a:ext cx="10180015" cy="548640"/>
          </a:xfrm>
          <a:prstGeom prst="rect">
            <a:avLst/>
          </a:prstGeom>
          <a:noFill/>
        </p:spPr>
        <p:txBody>
          <a:bodyPr wrap="none">
            <a:spAutoFit/>
          </a:bodyPr>
          <a:lstStyle/>
          <a:p>
            <a:r>
              <a:rPr b="1" sz="1300">
                <a:solidFill>
                  <a:srgbClr val="F8FAFC"/>
                </a:solidFill>
              </a:rPr>
              <a:t>ENTERPRISE MONTHLY AI SPEND BENCHMARK:  </a:t>
            </a:r>
            <a:r>
              <a:rPr b="1" sz="1600">
                <a:solidFill>
                  <a:srgbClr val="00F0FF"/>
                </a:solidFill>
              </a:rPr>
              <a:t>$100,000 / mo</a:t>
            </a:r>
          </a:p>
        </p:txBody>
      </p:sp>
      <p:sp>
        <p:nvSpPr>
          <p:cNvPr id="8" name="Rounded Rectangle 7"/>
          <p:cNvSpPr/>
          <p:nvPr/>
        </p:nvSpPr>
        <p:spPr>
          <a:xfrm>
            <a:off x="1005840" y="3017520"/>
            <a:ext cx="3108960" cy="2103120"/>
          </a:xfrm>
          <a:prstGeom prst="roundRect">
            <a:avLst/>
          </a:prstGeom>
          <a:solidFill>
            <a:srgbClr val="06080D"/>
          </a:solidFill>
          <a:ln w="1905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200400"/>
            <a:ext cx="2834640" cy="1737360"/>
          </a:xfrm>
          <a:prstGeom prst="rect">
            <a:avLst/>
          </a:prstGeom>
          <a:noFill/>
        </p:spPr>
        <p:txBody>
          <a:bodyPr wrap="square">
            <a:spAutoFit/>
          </a:bodyPr>
          <a:lstStyle/>
          <a:p>
            <a:pPr algn="ctr"/>
            <a:r>
              <a:rPr b="1" sz="1050">
                <a:solidFill>
                  <a:srgbClr val="94A3B8"/>
                </a:solidFill>
              </a:rPr>
              <a:t>1. DIRECT RETAIL OPENAI BILL</a:t>
            </a:r>
          </a:p>
          <a:p>
            <a:pPr algn="ctr">
              <a:spcBef>
                <a:spcPts val="1000"/>
              </a:spcBef>
            </a:pPr>
            <a:r>
              <a:rPr b="1" sz="2200">
                <a:solidFill>
                  <a:srgbClr val="94A3B8"/>
                </a:solidFill>
              </a:rPr>
              <a:t>$100,000 / mo</a:t>
            </a:r>
          </a:p>
          <a:p>
            <a:pPr algn="ctr">
              <a:spcBef>
                <a:spcPts val="800"/>
              </a:spcBef>
            </a:pPr>
            <a:r>
              <a:rPr sz="1100">
                <a:solidFill>
                  <a:srgbClr val="64748B"/>
                </a:solidFill>
              </a:rPr>
              <a:t>Unmanaged retail burn rate</a:t>
            </a:r>
          </a:p>
        </p:txBody>
      </p:sp>
      <p:sp>
        <p:nvSpPr>
          <p:cNvPr id="10" name="Rounded Rectangle 9"/>
          <p:cNvSpPr/>
          <p:nvPr/>
        </p:nvSpPr>
        <p:spPr>
          <a:xfrm>
            <a:off x="4535424" y="3017520"/>
            <a:ext cx="3108960" cy="2103120"/>
          </a:xfrm>
          <a:prstGeom prst="roundRect">
            <a:avLst/>
          </a:prstGeom>
          <a:solidFill>
            <a:srgbClr val="06080D"/>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72584" y="3200400"/>
            <a:ext cx="2834640" cy="1737360"/>
          </a:xfrm>
          <a:prstGeom prst="rect">
            <a:avLst/>
          </a:prstGeom>
          <a:noFill/>
        </p:spPr>
        <p:txBody>
          <a:bodyPr wrap="square">
            <a:spAutoFit/>
          </a:bodyPr>
          <a:lstStyle/>
          <a:p>
            <a:pPr algn="ctr"/>
            <a:r>
              <a:rPr b="1" sz="1050">
                <a:solidFill>
                  <a:srgbClr val="94A3B8"/>
                </a:solidFill>
              </a:rPr>
              <a:t>2. GALXAI CONSOLIDATED BILL</a:t>
            </a:r>
          </a:p>
          <a:p>
            <a:pPr algn="ctr">
              <a:spcBef>
                <a:spcPts val="1000"/>
              </a:spcBef>
            </a:pPr>
            <a:r>
              <a:rPr b="1" sz="2200">
                <a:solidFill>
                  <a:srgbClr val="00F0FF"/>
                </a:solidFill>
              </a:rPr>
              <a:t>$62,000 / mo</a:t>
            </a:r>
          </a:p>
          <a:p>
            <a:pPr algn="ctr">
              <a:spcBef>
                <a:spcPts val="800"/>
              </a:spcBef>
            </a:pPr>
            <a:r>
              <a:rPr sz="1100">
                <a:solidFill>
                  <a:srgbClr val="64748B"/>
                </a:solidFill>
              </a:rPr>
              <a:t>Wholesale compute + compaction</a:t>
            </a:r>
          </a:p>
        </p:txBody>
      </p:sp>
      <p:sp>
        <p:nvSpPr>
          <p:cNvPr id="12" name="Rounded Rectangle 11"/>
          <p:cNvSpPr/>
          <p:nvPr/>
        </p:nvSpPr>
        <p:spPr>
          <a:xfrm>
            <a:off x="8065008" y="3017520"/>
            <a:ext cx="3108960" cy="2103120"/>
          </a:xfrm>
          <a:prstGeom prst="roundRect">
            <a:avLst/>
          </a:prstGeom>
          <a:solidFill>
            <a:srgbClr val="06080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02168" y="3200400"/>
            <a:ext cx="2834640" cy="1737360"/>
          </a:xfrm>
          <a:prstGeom prst="rect">
            <a:avLst/>
          </a:prstGeom>
          <a:noFill/>
        </p:spPr>
        <p:txBody>
          <a:bodyPr wrap="square">
            <a:spAutoFit/>
          </a:bodyPr>
          <a:lstStyle/>
          <a:p>
            <a:pPr algn="ctr"/>
            <a:r>
              <a:rPr b="1" sz="1050">
                <a:solidFill>
                  <a:srgbClr val="94A3B8"/>
                </a:solidFill>
              </a:rPr>
              <a:t>3. CFO DIRECT CASH SAVED</a:t>
            </a:r>
          </a:p>
          <a:p>
            <a:pPr algn="ctr">
              <a:spcBef>
                <a:spcPts val="1000"/>
              </a:spcBef>
            </a:pPr>
            <a:r>
              <a:rPr b="1" sz="2200">
                <a:solidFill>
                  <a:srgbClr val="10B981"/>
                </a:solidFill>
              </a:rPr>
              <a:t>-$38,000 / mo</a:t>
            </a:r>
          </a:p>
          <a:p>
            <a:pPr algn="ctr">
              <a:spcBef>
                <a:spcPts val="800"/>
              </a:spcBef>
            </a:pPr>
            <a:r>
              <a:rPr sz="1100">
                <a:solidFill>
                  <a:srgbClr val="10B981"/>
                </a:solidFill>
              </a:rPr>
              <a:t>-$456,000 / year cash retained</a:t>
            </a:r>
          </a:p>
        </p:txBody>
      </p:sp>
      <p:sp>
        <p:nvSpPr>
          <p:cNvPr id="14" name="TextBox 13"/>
          <p:cNvSpPr txBox="1"/>
          <p:nvPr/>
        </p:nvSpPr>
        <p:spPr>
          <a:xfrm>
            <a:off x="731520" y="5577840"/>
            <a:ext cx="10728655" cy="548640"/>
          </a:xfrm>
          <a:prstGeom prst="rect">
            <a:avLst/>
          </a:prstGeom>
          <a:noFill/>
        </p:spPr>
        <p:txBody>
          <a:bodyPr wrap="none">
            <a:spAutoFit/>
          </a:bodyPr>
          <a:lstStyle/>
          <a:p>
            <a:pPr algn="ctr"/>
            <a:r>
              <a:rPr b="1" sz="1200">
                <a:solidFill>
                  <a:srgbClr val="10B981"/>
                </a:solidFill>
              </a:rPr>
              <a:t>✔ Zero Procurement Resistance: CFOs approve immediately because GALXAI reduces existing cash burn on Day 1 (-38%).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457200"/>
          </a:xfrm>
          <a:prstGeom prst="rect">
            <a:avLst/>
          </a:prstGeom>
          <a:noFill/>
        </p:spPr>
        <p:txBody>
          <a:bodyPr wrap="square" lIns="0" tIns="0" rIns="0" bIns="0">
            <a:spAutoFit/>
          </a:bodyPr>
          <a:lstStyle/>
          <a:p>
            <a:r>
              <a:rPr b="1" sz="1400">
                <a:solidFill>
                  <a:srgbClr val="00F0FF"/>
                </a:solidFill>
              </a:rPr>
              <a:t>GALXAI </a:t>
            </a:r>
            <a:r>
              <a:rPr sz="1100">
                <a:solidFill>
                  <a:srgbClr val="94A3B8"/>
                </a:solidFill>
              </a:rPr>
              <a:t>•  Halting the Tokenmaxxing Crisis</a:t>
            </a:r>
          </a:p>
        </p:txBody>
      </p:sp>
      <p:sp>
        <p:nvSpPr>
          <p:cNvPr id="4" name="TextBox 3"/>
          <p:cNvSpPr txBox="1"/>
          <p:nvPr/>
        </p:nvSpPr>
        <p:spPr>
          <a:xfrm>
            <a:off x="9601200" y="365760"/>
            <a:ext cx="1828800" cy="457200"/>
          </a:xfrm>
          <a:prstGeom prst="rect">
            <a:avLst/>
          </a:prstGeom>
          <a:noFill/>
        </p:spPr>
        <p:txBody>
          <a:bodyPr wrap="none" lIns="0" tIns="0" rIns="0" bIns="0">
            <a:spAutoFit/>
          </a:bodyPr>
          <a:lstStyle/>
          <a:p>
            <a:pPr algn="r"/>
            <a:r>
              <a:rPr b="1" sz="1100">
                <a:solidFill>
                  <a:srgbClr val="94A3B8"/>
                </a:solidFill>
              </a:rPr>
              <a:t>Slide 7 / 8</a:t>
            </a:r>
          </a:p>
        </p:txBody>
      </p:sp>
      <p:sp>
        <p:nvSpPr>
          <p:cNvPr id="5" name="TextBox 4"/>
          <p:cNvSpPr txBox="1"/>
          <p:nvPr/>
        </p:nvSpPr>
        <p:spPr>
          <a:xfrm>
            <a:off x="731520" y="914400"/>
            <a:ext cx="10728655" cy="1188720"/>
          </a:xfrm>
          <a:prstGeom prst="rect">
            <a:avLst/>
          </a:prstGeom>
          <a:noFill/>
        </p:spPr>
        <p:txBody>
          <a:bodyPr wrap="square">
            <a:spAutoFit/>
          </a:bodyPr>
          <a:lstStyle/>
          <a:p>
            <a:r>
              <a:rPr b="1" sz="1100">
                <a:solidFill>
                  <a:srgbClr val="00F0FF"/>
                </a:solidFill>
              </a:rPr>
              <a:t>SLIDE 07 / PROVEN DISTRIBUTION FUNNEL</a:t>
            </a:r>
          </a:p>
          <a:p>
            <a:pPr>
              <a:spcBef>
                <a:spcPts val="400"/>
              </a:spcBef>
            </a:pPr>
            <a:r>
              <a:rPr b="1" sz="2800">
                <a:solidFill>
                  <a:srgbClr val="F8FAFC"/>
                </a:solidFill>
              </a:rPr>
              <a:t>In-House Distribution: </a:t>
            </a:r>
            <a:r>
              <a:rPr b="1" sz="2800">
                <a:solidFill>
                  <a:srgbClr val="00F0FF"/>
                </a:solidFill>
              </a:rPr>
              <a:t>120k+ Installs</a:t>
            </a:r>
          </a:p>
          <a:p>
            <a:pPr>
              <a:spcBef>
                <a:spcPts val="400"/>
              </a:spcBef>
            </a:pPr>
            <a:r>
              <a:rPr sz="1300">
                <a:solidFill>
                  <a:srgbClr val="94A3B8"/>
                </a:solidFill>
              </a:rPr>
              <a:t>Proven organic developer adoption powered by our existing open-source developer tooling ecosystem.</a:t>
            </a:r>
          </a:p>
        </p:txBody>
      </p:sp>
      <p:sp>
        <p:nvSpPr>
          <p:cNvPr id="6" name="Rounded Rectangle 5"/>
          <p:cNvSpPr/>
          <p:nvPr/>
        </p:nvSpPr>
        <p:spPr>
          <a:xfrm>
            <a:off x="731520" y="2377440"/>
            <a:ext cx="3383280" cy="2926080"/>
          </a:xfrm>
          <a:prstGeom prst="roundRect">
            <a:avLst/>
          </a:prstGeom>
          <a:solidFill>
            <a:srgbClr val="0D121E"/>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560320"/>
            <a:ext cx="2926080" cy="2560320"/>
          </a:xfrm>
          <a:prstGeom prst="rect">
            <a:avLst/>
          </a:prstGeom>
          <a:noFill/>
        </p:spPr>
        <p:txBody>
          <a:bodyPr wrap="square">
            <a:spAutoFit/>
          </a:bodyPr>
          <a:lstStyle/>
          <a:p>
            <a:r>
              <a:rPr b="1" sz="1000">
                <a:solidFill>
                  <a:srgbClr val="00F0FF"/>
                </a:solidFill>
              </a:rPr>
              <a:t>[IDE Distribution]</a:t>
            </a:r>
          </a:p>
          <a:p>
            <a:pPr>
              <a:spcBef>
                <a:spcPts val="400"/>
              </a:spcBef>
            </a:pPr>
            <a:r>
              <a:rPr b="1" sz="1600">
                <a:solidFill>
                  <a:srgbClr val="F8FAFC"/>
                </a:solidFill>
              </a:rPr>
              <a:t>LUMI VS Code Extension</a:t>
            </a:r>
          </a:p>
          <a:p>
            <a:pPr>
              <a:spcBef>
                <a:spcPts val="800"/>
              </a:spcBef>
            </a:pPr>
            <a:r>
              <a:rPr b="1" sz="2200">
                <a:solidFill>
                  <a:srgbClr val="00F0FF"/>
                </a:solidFill>
              </a:rPr>
              <a:t>16,000 </a:t>
            </a:r>
            <a:r>
              <a:rPr sz="1100">
                <a:solidFill>
                  <a:srgbClr val="94A3B8"/>
                </a:solidFill>
              </a:rPr>
              <a:t>Active Dev Users</a:t>
            </a:r>
          </a:p>
          <a:p>
            <a:pPr>
              <a:spcBef>
                <a:spcPts val="800"/>
              </a:spcBef>
            </a:pPr>
            <a:r>
              <a:rPr sz="1150">
                <a:solidFill>
                  <a:srgbClr val="94A3B8"/>
                </a:solidFill>
              </a:rPr>
              <a:t>Embedded inside the developer's daily coding environment. Pre-installed routing and components directly in the IDE.</a:t>
            </a:r>
          </a:p>
        </p:txBody>
      </p:sp>
      <p:sp>
        <p:nvSpPr>
          <p:cNvPr id="8" name="Rounded Rectangle 7"/>
          <p:cNvSpPr/>
          <p:nvPr/>
        </p:nvSpPr>
        <p:spPr>
          <a:xfrm>
            <a:off x="4398264" y="2377440"/>
            <a:ext cx="3383280" cy="2926080"/>
          </a:xfrm>
          <a:prstGeom prst="roundRect">
            <a:avLst/>
          </a:prstGeom>
          <a:solidFill>
            <a:srgbClr val="0D121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26864" y="2560320"/>
            <a:ext cx="2926080" cy="2560320"/>
          </a:xfrm>
          <a:prstGeom prst="rect">
            <a:avLst/>
          </a:prstGeom>
          <a:noFill/>
        </p:spPr>
        <p:txBody>
          <a:bodyPr wrap="square">
            <a:spAutoFit/>
          </a:bodyPr>
          <a:lstStyle/>
          <a:p>
            <a:r>
              <a:rPr b="1" sz="1000">
                <a:solidFill>
                  <a:srgbClr val="A855F7"/>
                </a:solidFill>
              </a:rPr>
              <a:t>[Terminal Workflows]</a:t>
            </a:r>
          </a:p>
          <a:p>
            <a:pPr>
              <a:spcBef>
                <a:spcPts val="400"/>
              </a:spcBef>
            </a:pPr>
            <a:r>
              <a:rPr b="1" sz="1600">
                <a:solidFill>
                  <a:srgbClr val="F8FAFC"/>
                </a:solidFill>
              </a:rPr>
              <a:t>GALXAI CLI Agent</a:t>
            </a:r>
          </a:p>
          <a:p>
            <a:pPr>
              <a:spcBef>
                <a:spcPts val="800"/>
              </a:spcBef>
            </a:pPr>
            <a:r>
              <a:rPr b="1" sz="2200">
                <a:solidFill>
                  <a:srgbClr val="A855F7"/>
                </a:solidFill>
              </a:rPr>
              <a:t>2,000 </a:t>
            </a:r>
            <a:r>
              <a:rPr sz="1100">
                <a:solidFill>
                  <a:srgbClr val="94A3B8"/>
                </a:solidFill>
              </a:rPr>
              <a:t>Active Terminal Users</a:t>
            </a:r>
          </a:p>
          <a:p>
            <a:pPr>
              <a:spcBef>
                <a:spcPts val="800"/>
              </a:spcBef>
            </a:pPr>
            <a:r>
              <a:rPr sz="1150">
                <a:solidFill>
                  <a:srgbClr val="94A3B8"/>
                </a:solidFill>
              </a:rPr>
              <a:t>Power developers running autonomous scripts, CI/CD pipelines, and agent workflows directly from their command line.</a:t>
            </a:r>
          </a:p>
        </p:txBody>
      </p:sp>
      <p:sp>
        <p:nvSpPr>
          <p:cNvPr id="10" name="Rounded Rectangle 9"/>
          <p:cNvSpPr/>
          <p:nvPr/>
        </p:nvSpPr>
        <p:spPr>
          <a:xfrm>
            <a:off x="8065008" y="2377440"/>
            <a:ext cx="3383280" cy="2926080"/>
          </a:xfrm>
          <a:prstGeom prst="roundRect">
            <a:avLst/>
          </a:prstGeom>
          <a:solidFill>
            <a:srgbClr val="0D121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3608" y="2560320"/>
            <a:ext cx="2926080" cy="2560320"/>
          </a:xfrm>
          <a:prstGeom prst="rect">
            <a:avLst/>
          </a:prstGeom>
          <a:noFill/>
        </p:spPr>
        <p:txBody>
          <a:bodyPr wrap="square">
            <a:spAutoFit/>
          </a:bodyPr>
          <a:lstStyle/>
          <a:p>
            <a:r>
              <a:rPr b="1" sz="1000">
                <a:solidFill>
                  <a:srgbClr val="10B981"/>
                </a:solidFill>
              </a:rPr>
              <a:t>[9-Month Velocity]</a:t>
            </a:r>
          </a:p>
          <a:p>
            <a:pPr>
              <a:spcBef>
                <a:spcPts val="400"/>
              </a:spcBef>
            </a:pPr>
            <a:r>
              <a:rPr b="1" sz="1600">
                <a:solidFill>
                  <a:srgbClr val="F8FAFC"/>
                </a:solidFill>
              </a:rPr>
              <a:t>Total Ecosystem Installs</a:t>
            </a:r>
          </a:p>
          <a:p>
            <a:pPr>
              <a:spcBef>
                <a:spcPts val="800"/>
              </a:spcBef>
            </a:pPr>
            <a:r>
              <a:rPr b="1" sz="2200">
                <a:solidFill>
                  <a:srgbClr val="10B981"/>
                </a:solidFill>
              </a:rPr>
              <a:t>120,000+ </a:t>
            </a:r>
            <a:r>
              <a:rPr sz="1100">
                <a:solidFill>
                  <a:srgbClr val="94A3B8"/>
                </a:solidFill>
              </a:rPr>
              <a:t>Lifetime Installs</a:t>
            </a:r>
          </a:p>
          <a:p>
            <a:pPr>
              <a:spcBef>
                <a:spcPts val="800"/>
              </a:spcBef>
            </a:pPr>
            <a:r>
              <a:rPr sz="1150">
                <a:solidFill>
                  <a:srgbClr val="94A3B8"/>
                </a:solidFill>
              </a:rPr>
              <a:t>100% organic word-of-mouth adoption across developer communities in 9 months with $0 spent on paid ads.</a:t>
            </a:r>
          </a:p>
        </p:txBody>
      </p:sp>
      <p:sp>
        <p:nvSpPr>
          <p:cNvPr id="12" name="TextBox 11"/>
          <p:cNvSpPr txBox="1"/>
          <p:nvPr/>
        </p:nvSpPr>
        <p:spPr>
          <a:xfrm>
            <a:off x="731520" y="5577840"/>
            <a:ext cx="10728655" cy="548640"/>
          </a:xfrm>
          <a:prstGeom prst="rect">
            <a:avLst/>
          </a:prstGeom>
          <a:noFill/>
        </p:spPr>
        <p:txBody>
          <a:bodyPr wrap="none">
            <a:spAutoFit/>
          </a:bodyPr>
          <a:lstStyle/>
          <a:p>
            <a:pPr algn="ctr"/>
            <a:r>
              <a:rPr b="1" sz="1200">
                <a:solidFill>
                  <a:srgbClr val="00F0FF"/>
                </a:solidFill>
              </a:rPr>
              <a:t>💡 The Built-In Funnel: 18,000+ active developers already trust our tools daily, creating an immediate conversion bridge into GALXAI clearing.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457200"/>
          </a:xfrm>
          <a:prstGeom prst="rect">
            <a:avLst/>
          </a:prstGeom>
          <a:noFill/>
        </p:spPr>
        <p:txBody>
          <a:bodyPr wrap="square" lIns="0" tIns="0" rIns="0" bIns="0">
            <a:spAutoFit/>
          </a:bodyPr>
          <a:lstStyle/>
          <a:p>
            <a:r>
              <a:rPr b="1" sz="1400">
                <a:solidFill>
                  <a:srgbClr val="00F0FF"/>
                </a:solidFill>
              </a:rPr>
              <a:t>GALXAI </a:t>
            </a:r>
            <a:r>
              <a:rPr sz="1100">
                <a:solidFill>
                  <a:srgbClr val="94A3B8"/>
                </a:solidFill>
              </a:rPr>
              <a:t>•  Halting the Tokenmaxxing Crisis</a:t>
            </a:r>
          </a:p>
        </p:txBody>
      </p:sp>
      <p:sp>
        <p:nvSpPr>
          <p:cNvPr id="4" name="TextBox 3"/>
          <p:cNvSpPr txBox="1"/>
          <p:nvPr/>
        </p:nvSpPr>
        <p:spPr>
          <a:xfrm>
            <a:off x="9601200" y="365760"/>
            <a:ext cx="1828800" cy="457200"/>
          </a:xfrm>
          <a:prstGeom prst="rect">
            <a:avLst/>
          </a:prstGeom>
          <a:noFill/>
        </p:spPr>
        <p:txBody>
          <a:bodyPr wrap="none" lIns="0" tIns="0" rIns="0" bIns="0">
            <a:spAutoFit/>
          </a:bodyPr>
          <a:lstStyle/>
          <a:p>
            <a:pPr algn="r"/>
            <a:r>
              <a:rPr b="1" sz="1100">
                <a:solidFill>
                  <a:srgbClr val="94A3B8"/>
                </a:solidFill>
              </a:rPr>
              <a:t>Slide 8 / 8</a:t>
            </a:r>
          </a:p>
        </p:txBody>
      </p:sp>
      <p:sp>
        <p:nvSpPr>
          <p:cNvPr id="5" name="TextBox 4"/>
          <p:cNvSpPr txBox="1"/>
          <p:nvPr/>
        </p:nvSpPr>
        <p:spPr>
          <a:xfrm>
            <a:off x="731520" y="914400"/>
            <a:ext cx="10728655" cy="1005840"/>
          </a:xfrm>
          <a:prstGeom prst="rect">
            <a:avLst/>
          </a:prstGeom>
          <a:noFill/>
        </p:spPr>
        <p:txBody>
          <a:bodyPr wrap="square">
            <a:spAutoFit/>
          </a:bodyPr>
          <a:lstStyle/>
          <a:p>
            <a:r>
              <a:rPr b="1" sz="1100">
                <a:solidFill>
                  <a:srgbClr val="00F0FF"/>
                </a:solidFill>
              </a:rPr>
              <a:t>SLIDE 08 / FINANCIAL FORECAST &amp; CAPITAL GROWTH</a:t>
            </a:r>
          </a:p>
          <a:p>
            <a:pPr>
              <a:spcBef>
                <a:spcPts val="400"/>
              </a:spcBef>
            </a:pPr>
            <a:r>
              <a:rPr b="1" sz="2800">
                <a:solidFill>
                  <a:srgbClr val="F8FAFC"/>
                </a:solidFill>
              </a:rPr>
              <a:t>Capital Growth &amp; </a:t>
            </a:r>
            <a:r>
              <a:rPr b="1" sz="2800">
                <a:solidFill>
                  <a:srgbClr val="00F0FF"/>
                </a:solidFill>
              </a:rPr>
              <a:t>Unit Economics</a:t>
            </a:r>
          </a:p>
        </p:txBody>
      </p:sp>
      <p:graphicFrame>
        <p:nvGraphicFramePr>
          <p:cNvPr id="6" name="Table 5"/>
          <p:cNvGraphicFramePr>
            <a:graphicFrameLocks noGrp="1"/>
          </p:cNvGraphicFramePr>
          <p:nvPr/>
        </p:nvGraphicFramePr>
        <p:xfrm>
          <a:off x="731520" y="2011680"/>
          <a:ext cx="10728655" cy="2194560"/>
        </p:xfrm>
        <a:graphic>
          <a:graphicData uri="http://schemas.openxmlformats.org/drawingml/2006/table">
            <a:tbl>
              <a:tblPr firstRow="1" bandRow="1">
                <a:tableStyleId>{5C22544A-7EE6-4342-B048-85BDC9FD1C3A}</a:tableStyleId>
              </a:tblPr>
              <a:tblGrid>
                <a:gridCol w="1788109"/>
                <a:gridCol w="1788109"/>
                <a:gridCol w="1788109"/>
                <a:gridCol w="1788109"/>
                <a:gridCol w="1788109"/>
                <a:gridCol w="1788110"/>
              </a:tblGrid>
              <a:tr h="365760">
                <a:tc>
                  <a:txBody>
                    <a:bodyPr/>
                    <a:lstStyle/>
                    <a:p>
                      <a:pPr algn="l"/>
                      <a:r>
                        <a:rPr sz="1100" b="1">
                          <a:solidFill>
                            <a:srgbClr val="F8FAFC"/>
                          </a:solidFill>
                        </a:rPr>
                        <a:t>Milestone</a:t>
                      </a:r>
                    </a:p>
                  </a:txBody>
                  <a:tcPr>
                    <a:solidFill>
                      <a:srgbClr val="141C2E"/>
                    </a:solidFill>
                  </a:tcPr>
                </a:tc>
                <a:tc>
                  <a:txBody>
                    <a:bodyPr/>
                    <a:lstStyle/>
                    <a:p>
                      <a:pPr algn="ctr"/>
                      <a:r>
                        <a:rPr sz="1100" b="1">
                          <a:solidFill>
                            <a:srgbClr val="F59E0B"/>
                          </a:solidFill>
                        </a:rPr>
                        <a:t>2026 (Private Beta)</a:t>
                      </a:r>
                    </a:p>
                  </a:txBody>
                  <a:tcPr>
                    <a:solidFill>
                      <a:srgbClr val="141C2E"/>
                    </a:solidFill>
                  </a:tcPr>
                </a:tc>
                <a:tc>
                  <a:txBody>
                    <a:bodyPr/>
                    <a:lstStyle/>
                    <a:p>
                      <a:pPr algn="ctr"/>
                      <a:r>
                        <a:rPr sz="1100" b="1">
                          <a:solidFill>
                            <a:srgbClr val="F8FAFC"/>
                          </a:solidFill>
                        </a:rPr>
                        <a:t>2027 (Launch Y1)</a:t>
                      </a:r>
                    </a:p>
                  </a:txBody>
                  <a:tcPr>
                    <a:solidFill>
                      <a:srgbClr val="141C2E"/>
                    </a:solidFill>
                  </a:tcPr>
                </a:tc>
                <a:tc>
                  <a:txBody>
                    <a:bodyPr/>
                    <a:lstStyle/>
                    <a:p>
                      <a:pPr algn="ctr"/>
                      <a:r>
                        <a:rPr sz="1100" b="1">
                          <a:solidFill>
                            <a:srgbClr val="F8FAFC"/>
                          </a:solidFill>
                        </a:rPr>
                        <a:t>2028 (Scale Y2)</a:t>
                      </a:r>
                    </a:p>
                  </a:txBody>
                  <a:tcPr>
                    <a:solidFill>
                      <a:srgbClr val="141C2E"/>
                    </a:solidFill>
                  </a:tcPr>
                </a:tc>
                <a:tc>
                  <a:txBody>
                    <a:bodyPr/>
                    <a:lstStyle/>
                    <a:p>
                      <a:pPr algn="ctr"/>
                      <a:r>
                        <a:rPr sz="1100" b="1">
                          <a:solidFill>
                            <a:srgbClr val="00F0FF"/>
                          </a:solidFill>
                        </a:rPr>
                        <a:t>2029 (Exp. Y3)</a:t>
                      </a:r>
                    </a:p>
                  </a:txBody>
                  <a:tcPr>
                    <a:solidFill>
                      <a:srgbClr val="141C2E"/>
                    </a:solidFill>
                  </a:tcPr>
                </a:tc>
                <a:tc>
                  <a:txBody>
                    <a:bodyPr/>
                    <a:lstStyle/>
                    <a:p>
                      <a:pPr algn="ctr"/>
                      <a:r>
                        <a:rPr sz="1100" b="1">
                          <a:solidFill>
                            <a:srgbClr val="F8FAFC"/>
                          </a:solidFill>
                        </a:rPr>
                        <a:t>2031 (Y5)</a:t>
                      </a:r>
                    </a:p>
                  </a:txBody>
                  <a:tcPr>
                    <a:solidFill>
                      <a:srgbClr val="141C2E"/>
                    </a:solidFill>
                  </a:tcPr>
                </a:tc>
              </a:tr>
              <a:tr h="365760">
                <a:tc>
                  <a:txBody>
                    <a:bodyPr/>
                    <a:lstStyle/>
                    <a:p>
                      <a:pPr algn="l"/>
                      <a:r>
                        <a:rPr sz="1100" b="1">
                          <a:solidFill>
                            <a:srgbClr val="F8FAFC"/>
                          </a:solidFill>
                        </a:rPr>
                        <a:t>Stage</a:t>
                      </a:r>
                    </a:p>
                  </a:txBody>
                  <a:tcPr>
                    <a:solidFill>
                      <a:srgbClr val="0D121E"/>
                    </a:solidFill>
                  </a:tcPr>
                </a:tc>
                <a:tc>
                  <a:txBody>
                    <a:bodyPr/>
                    <a:lstStyle/>
                    <a:p>
                      <a:pPr algn="ctr"/>
                      <a:r>
                        <a:rPr sz="1100">
                          <a:solidFill>
                            <a:srgbClr val="94A3B8"/>
                          </a:solidFill>
                        </a:rPr>
                        <a:t>Core Built &amp; Testing</a:t>
                      </a:r>
                    </a:p>
                  </a:txBody>
                  <a:tcPr>
                    <a:solidFill>
                      <a:srgbClr val="0A0E16"/>
                    </a:solidFill>
                  </a:tcPr>
                </a:tc>
                <a:tc>
                  <a:txBody>
                    <a:bodyPr/>
                    <a:lstStyle/>
                    <a:p>
                      <a:pPr algn="ctr"/>
                      <a:r>
                        <a:rPr sz="1100">
                          <a:solidFill>
                            <a:srgbClr val="94A3B8"/>
                          </a:solidFill>
                        </a:rPr>
                        <a:t>Public Rollout</a:t>
                      </a:r>
                    </a:p>
                  </a:txBody>
                  <a:tcPr>
                    <a:solidFill>
                      <a:srgbClr val="0A0E16"/>
                    </a:solidFill>
                  </a:tcPr>
                </a:tc>
                <a:tc>
                  <a:txBody>
                    <a:bodyPr/>
                    <a:lstStyle/>
                    <a:p>
                      <a:pPr algn="ctr"/>
                      <a:r>
                        <a:rPr sz="1100">
                          <a:solidFill>
                            <a:srgbClr val="94A3B8"/>
                          </a:solidFill>
                        </a:rPr>
                        <a:t>Rapid Scale</a:t>
                      </a:r>
                    </a:p>
                  </a:txBody>
                  <a:tcPr>
                    <a:solidFill>
                      <a:srgbClr val="0A0E16"/>
                    </a:solidFill>
                  </a:tcPr>
                </a:tc>
                <a:tc>
                  <a:txBody>
                    <a:bodyPr/>
                    <a:lstStyle/>
                    <a:p>
                      <a:pPr algn="ctr"/>
                      <a:r>
                        <a:rPr sz="1100" b="1">
                          <a:solidFill>
                            <a:srgbClr val="00F0FF"/>
                          </a:solidFill>
                        </a:rPr>
                        <a:t>Enterprise Exp.</a:t>
                      </a:r>
                    </a:p>
                  </a:txBody>
                  <a:tcPr>
                    <a:solidFill>
                      <a:srgbClr val="101828"/>
                    </a:solidFill>
                  </a:tcPr>
                </a:tc>
                <a:tc>
                  <a:txBody>
                    <a:bodyPr/>
                    <a:lstStyle/>
                    <a:p>
                      <a:pPr algn="ctr"/>
                      <a:r>
                        <a:rPr sz="1100">
                          <a:solidFill>
                            <a:srgbClr val="94A3B8"/>
                          </a:solidFill>
                        </a:rPr>
                        <a:t>Global Infra</a:t>
                      </a:r>
                    </a:p>
                  </a:txBody>
                  <a:tcPr>
                    <a:solidFill>
                      <a:srgbClr val="0A0E16"/>
                    </a:solidFill>
                  </a:tcPr>
                </a:tc>
              </a:tr>
              <a:tr h="365760">
                <a:tc>
                  <a:txBody>
                    <a:bodyPr/>
                    <a:lstStyle/>
                    <a:p>
                      <a:pPr algn="l"/>
                      <a:r>
                        <a:rPr sz="1100" b="1">
                          <a:solidFill>
                            <a:srgbClr val="F8FAFC"/>
                          </a:solidFill>
                        </a:rPr>
                        <a:t>Active Apps</a:t>
                      </a:r>
                    </a:p>
                  </a:txBody>
                  <a:tcPr>
                    <a:solidFill>
                      <a:srgbClr val="0D121E"/>
                    </a:solidFill>
                  </a:tcPr>
                </a:tc>
                <a:tc>
                  <a:txBody>
                    <a:bodyPr/>
                    <a:lstStyle/>
                    <a:p>
                      <a:pPr algn="ctr"/>
                      <a:r>
                        <a:rPr sz="1100">
                          <a:solidFill>
                            <a:srgbClr val="94A3B8"/>
                          </a:solidFill>
                        </a:rPr>
                        <a:t>Closed Cohort</a:t>
                      </a:r>
                    </a:p>
                  </a:txBody>
                  <a:tcPr>
                    <a:solidFill>
                      <a:srgbClr val="0A0E16"/>
                    </a:solidFill>
                  </a:tcPr>
                </a:tc>
                <a:tc>
                  <a:txBody>
                    <a:bodyPr/>
                    <a:lstStyle/>
                    <a:p>
                      <a:pPr algn="ctr"/>
                      <a:r>
                        <a:rPr sz="1100">
                          <a:solidFill>
                            <a:srgbClr val="94A3B8"/>
                          </a:solidFill>
                        </a:rPr>
                        <a:t>1,800</a:t>
                      </a:r>
                    </a:p>
                  </a:txBody>
                  <a:tcPr>
                    <a:solidFill>
                      <a:srgbClr val="0A0E16"/>
                    </a:solidFill>
                  </a:tcPr>
                </a:tc>
                <a:tc>
                  <a:txBody>
                    <a:bodyPr/>
                    <a:lstStyle/>
                    <a:p>
                      <a:pPr algn="ctr"/>
                      <a:r>
                        <a:rPr sz="1100">
                          <a:solidFill>
                            <a:srgbClr val="94A3B8"/>
                          </a:solidFill>
                        </a:rPr>
                        <a:t>7,500</a:t>
                      </a:r>
                    </a:p>
                  </a:txBody>
                  <a:tcPr>
                    <a:solidFill>
                      <a:srgbClr val="0A0E16"/>
                    </a:solidFill>
                  </a:tcPr>
                </a:tc>
                <a:tc>
                  <a:txBody>
                    <a:bodyPr/>
                    <a:lstStyle/>
                    <a:p>
                      <a:pPr algn="ctr"/>
                      <a:r>
                        <a:rPr sz="1100" b="1">
                          <a:solidFill>
                            <a:srgbClr val="00F0FF"/>
                          </a:solidFill>
                        </a:rPr>
                        <a:t>20,000</a:t>
                      </a:r>
                    </a:p>
                  </a:txBody>
                  <a:tcPr>
                    <a:solidFill>
                      <a:srgbClr val="101828"/>
                    </a:solidFill>
                  </a:tcPr>
                </a:tc>
                <a:tc>
                  <a:txBody>
                    <a:bodyPr/>
                    <a:lstStyle/>
                    <a:p>
                      <a:pPr algn="ctr"/>
                      <a:r>
                        <a:rPr sz="1100">
                          <a:solidFill>
                            <a:srgbClr val="94A3B8"/>
                          </a:solidFill>
                        </a:rPr>
                        <a:t>70,000</a:t>
                      </a:r>
                    </a:p>
                  </a:txBody>
                  <a:tcPr>
                    <a:solidFill>
                      <a:srgbClr val="0A0E16"/>
                    </a:solidFill>
                  </a:tcPr>
                </a:tc>
              </a:tr>
              <a:tr h="365760">
                <a:tc>
                  <a:txBody>
                    <a:bodyPr/>
                    <a:lstStyle/>
                    <a:p>
                      <a:pPr algn="l"/>
                      <a:r>
                        <a:rPr sz="1100" b="1">
                          <a:solidFill>
                            <a:srgbClr val="F8FAFC"/>
                          </a:solidFill>
                        </a:rPr>
                        <a:t>ARR ($M)</a:t>
                      </a:r>
                    </a:p>
                  </a:txBody>
                  <a:tcPr>
                    <a:solidFill>
                      <a:srgbClr val="0D121E"/>
                    </a:solidFill>
                  </a:tcPr>
                </a:tc>
                <a:tc>
                  <a:txBody>
                    <a:bodyPr/>
                    <a:lstStyle/>
                    <a:p>
                      <a:pPr algn="ctr"/>
                      <a:r>
                        <a:rPr sz="1100">
                          <a:solidFill>
                            <a:srgbClr val="94A3B8"/>
                          </a:solidFill>
                        </a:rPr>
                        <a:t>Pre-Launch</a:t>
                      </a:r>
                    </a:p>
                  </a:txBody>
                  <a:tcPr>
                    <a:solidFill>
                      <a:srgbClr val="0A0E16"/>
                    </a:solidFill>
                  </a:tcPr>
                </a:tc>
                <a:tc>
                  <a:txBody>
                    <a:bodyPr/>
                    <a:lstStyle/>
                    <a:p>
                      <a:pPr algn="ctr"/>
                      <a:r>
                        <a:rPr sz="1100">
                          <a:solidFill>
                            <a:srgbClr val="94A3B8"/>
                          </a:solidFill>
                        </a:rPr>
                        <a:t>$1.50M</a:t>
                      </a:r>
                    </a:p>
                  </a:txBody>
                  <a:tcPr>
                    <a:solidFill>
                      <a:srgbClr val="0A0E16"/>
                    </a:solidFill>
                  </a:tcPr>
                </a:tc>
                <a:tc>
                  <a:txBody>
                    <a:bodyPr/>
                    <a:lstStyle/>
                    <a:p>
                      <a:pPr algn="ctr"/>
                      <a:r>
                        <a:rPr sz="1100">
                          <a:solidFill>
                            <a:srgbClr val="94A3B8"/>
                          </a:solidFill>
                        </a:rPr>
                        <a:t>$7.20M</a:t>
                      </a:r>
                    </a:p>
                  </a:txBody>
                  <a:tcPr>
                    <a:solidFill>
                      <a:srgbClr val="0A0E16"/>
                    </a:solidFill>
                  </a:tcPr>
                </a:tc>
                <a:tc>
                  <a:txBody>
                    <a:bodyPr/>
                    <a:lstStyle/>
                    <a:p>
                      <a:pPr algn="ctr"/>
                      <a:r>
                        <a:rPr sz="1100" b="1">
                          <a:solidFill>
                            <a:srgbClr val="00F0FF"/>
                          </a:solidFill>
                        </a:rPr>
                        <a:t>$22.00M</a:t>
                      </a:r>
                    </a:p>
                  </a:txBody>
                  <a:tcPr>
                    <a:solidFill>
                      <a:srgbClr val="101828"/>
                    </a:solidFill>
                  </a:tcPr>
                </a:tc>
                <a:tc>
                  <a:txBody>
                    <a:bodyPr/>
                    <a:lstStyle/>
                    <a:p>
                      <a:pPr algn="ctr"/>
                      <a:r>
                        <a:rPr sz="1100">
                          <a:solidFill>
                            <a:srgbClr val="94A3B8"/>
                          </a:solidFill>
                        </a:rPr>
                        <a:t>$90.00M</a:t>
                      </a:r>
                    </a:p>
                  </a:txBody>
                  <a:tcPr>
                    <a:solidFill>
                      <a:srgbClr val="0A0E16"/>
                    </a:solidFill>
                  </a:tcPr>
                </a:tc>
              </a:tr>
              <a:tr h="365760">
                <a:tc>
                  <a:txBody>
                    <a:bodyPr/>
                    <a:lstStyle/>
                    <a:p>
                      <a:pPr algn="l"/>
                      <a:r>
                        <a:rPr sz="1100" b="1">
                          <a:solidFill>
                            <a:srgbClr val="F8FAFC"/>
                          </a:solidFill>
                        </a:rPr>
                        <a:t>Gross Margin (%)</a:t>
                      </a:r>
                    </a:p>
                  </a:txBody>
                  <a:tcPr>
                    <a:solidFill>
                      <a:srgbClr val="0D121E"/>
                    </a:solidFill>
                  </a:tcPr>
                </a:tc>
                <a:tc>
                  <a:txBody>
                    <a:bodyPr/>
                    <a:lstStyle/>
                    <a:p>
                      <a:pPr algn="ctr"/>
                      <a:r>
                        <a:rPr sz="1100">
                          <a:solidFill>
                            <a:srgbClr val="94A3B8"/>
                          </a:solidFill>
                        </a:rPr>
                        <a:t>--</a:t>
                      </a:r>
                    </a:p>
                  </a:txBody>
                  <a:tcPr>
                    <a:solidFill>
                      <a:srgbClr val="0A0E16"/>
                    </a:solidFill>
                  </a:tcPr>
                </a:tc>
                <a:tc>
                  <a:txBody>
                    <a:bodyPr/>
                    <a:lstStyle/>
                    <a:p>
                      <a:pPr algn="ctr"/>
                      <a:r>
                        <a:rPr sz="1100">
                          <a:solidFill>
                            <a:srgbClr val="94A3B8"/>
                          </a:solidFill>
                        </a:rPr>
                        <a:t>42.0%</a:t>
                      </a:r>
                    </a:p>
                  </a:txBody>
                  <a:tcPr>
                    <a:solidFill>
                      <a:srgbClr val="0A0E16"/>
                    </a:solidFill>
                  </a:tcPr>
                </a:tc>
                <a:tc>
                  <a:txBody>
                    <a:bodyPr/>
                    <a:lstStyle/>
                    <a:p>
                      <a:pPr algn="ctr"/>
                      <a:r>
                        <a:rPr sz="1100">
                          <a:solidFill>
                            <a:srgbClr val="94A3B8"/>
                          </a:solidFill>
                        </a:rPr>
                        <a:t>50.0%</a:t>
                      </a:r>
                    </a:p>
                  </a:txBody>
                  <a:tcPr>
                    <a:solidFill>
                      <a:srgbClr val="0A0E16"/>
                    </a:solidFill>
                  </a:tcPr>
                </a:tc>
                <a:tc>
                  <a:txBody>
                    <a:bodyPr/>
                    <a:lstStyle/>
                    <a:p>
                      <a:pPr algn="ctr"/>
                      <a:r>
                        <a:rPr sz="1100" b="1">
                          <a:solidFill>
                            <a:srgbClr val="00F0FF"/>
                          </a:solidFill>
                        </a:rPr>
                        <a:t>58.0%</a:t>
                      </a:r>
                    </a:p>
                  </a:txBody>
                  <a:tcPr>
                    <a:solidFill>
                      <a:srgbClr val="101828"/>
                    </a:solidFill>
                  </a:tcPr>
                </a:tc>
                <a:tc>
                  <a:txBody>
                    <a:bodyPr/>
                    <a:lstStyle/>
                    <a:p>
                      <a:pPr algn="ctr"/>
                      <a:r>
                        <a:rPr sz="1100">
                          <a:solidFill>
                            <a:srgbClr val="94A3B8"/>
                          </a:solidFill>
                        </a:rPr>
                        <a:t>68.0%</a:t>
                      </a:r>
                    </a:p>
                  </a:txBody>
                  <a:tcPr>
                    <a:solidFill>
                      <a:srgbClr val="0A0E16"/>
                    </a:solidFill>
                  </a:tcPr>
                </a:tc>
              </a:tr>
              <a:tr h="365760">
                <a:tc>
                  <a:txBody>
                    <a:bodyPr/>
                    <a:lstStyle/>
                    <a:p>
                      <a:pPr algn="l"/>
                      <a:r>
                        <a:rPr sz="1100" b="1">
                          <a:solidFill>
                            <a:srgbClr val="F8FAFC"/>
                          </a:solidFill>
                        </a:rPr>
                        <a:t>Operating Trajectory</a:t>
                      </a:r>
                    </a:p>
                  </a:txBody>
                  <a:tcPr>
                    <a:solidFill>
                      <a:srgbClr val="0D121E"/>
                    </a:solidFill>
                  </a:tcPr>
                </a:tc>
                <a:tc>
                  <a:txBody>
                    <a:bodyPr/>
                    <a:lstStyle/>
                    <a:p>
                      <a:pPr algn="ctr"/>
                      <a:r>
                        <a:rPr sz="1100">
                          <a:solidFill>
                            <a:srgbClr val="94A3B8"/>
                          </a:solidFill>
                        </a:rPr>
                        <a:t>Engineering Done</a:t>
                      </a:r>
                    </a:p>
                  </a:txBody>
                  <a:tcPr>
                    <a:solidFill>
                      <a:srgbClr val="0A0E16"/>
                    </a:solidFill>
                  </a:tcPr>
                </a:tc>
                <a:tc>
                  <a:txBody>
                    <a:bodyPr/>
                    <a:lstStyle/>
                    <a:p>
                      <a:pPr algn="ctr"/>
                      <a:r>
                        <a:rPr sz="1100">
                          <a:solidFill>
                            <a:srgbClr val="94A3B8"/>
                          </a:solidFill>
                        </a:rPr>
                        <a:t>Launch Phase</a:t>
                      </a:r>
                    </a:p>
                  </a:txBody>
                  <a:tcPr>
                    <a:solidFill>
                      <a:srgbClr val="0A0E16"/>
                    </a:solidFill>
                  </a:tcPr>
                </a:tc>
                <a:tc>
                  <a:txBody>
                    <a:bodyPr/>
                    <a:lstStyle/>
                    <a:p>
                      <a:pPr algn="ctr"/>
                      <a:r>
                        <a:rPr sz="1100">
                          <a:solidFill>
                            <a:srgbClr val="94A3B8"/>
                          </a:solidFill>
                        </a:rPr>
                        <a:t>Growth Phase</a:t>
                      </a:r>
                    </a:p>
                  </a:txBody>
                  <a:tcPr>
                    <a:solidFill>
                      <a:srgbClr val="0A0E16"/>
                    </a:solidFill>
                  </a:tcPr>
                </a:tc>
                <a:tc>
                  <a:txBody>
                    <a:bodyPr/>
                    <a:lstStyle/>
                    <a:p>
                      <a:pPr algn="ctr"/>
                      <a:r>
                        <a:rPr sz="1100" b="1">
                          <a:solidFill>
                            <a:srgbClr val="00F0FF"/>
                          </a:solidFill>
                        </a:rPr>
                        <a:t>Breakeven (Mo 34)</a:t>
                      </a:r>
                    </a:p>
                  </a:txBody>
                  <a:tcPr>
                    <a:solidFill>
                      <a:srgbClr val="101828"/>
                    </a:solidFill>
                  </a:tcPr>
                </a:tc>
                <a:tc>
                  <a:txBody>
                    <a:bodyPr/>
                    <a:lstStyle/>
                    <a:p>
                      <a:pPr algn="ctr"/>
                      <a:r>
                        <a:rPr sz="1100">
                          <a:solidFill>
                            <a:srgbClr val="94A3B8"/>
                          </a:solidFill>
                        </a:rPr>
                        <a:t>Free Cash ($22.0M)</a:t>
                      </a:r>
                    </a:p>
                  </a:txBody>
                  <a:tcPr>
                    <a:solidFill>
                      <a:srgbClr val="0A0E16"/>
                    </a:solidFill>
                  </a:tcPr>
                </a:tc>
              </a:tr>
            </a:tbl>
          </a:graphicData>
        </a:graphic>
      </p:graphicFrame>
      <p:sp>
        <p:nvSpPr>
          <p:cNvPr id="7" name="Rounded Rectangle 6"/>
          <p:cNvSpPr/>
          <p:nvPr/>
        </p:nvSpPr>
        <p:spPr>
          <a:xfrm>
            <a:off x="731520" y="4389120"/>
            <a:ext cx="2468880" cy="1097280"/>
          </a:xfrm>
          <a:prstGeom prst="roundRect">
            <a:avLst/>
          </a:prstGeom>
          <a:solidFill>
            <a:srgbClr val="0D121E"/>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526280"/>
            <a:ext cx="2286000" cy="822960"/>
          </a:xfrm>
          <a:prstGeom prst="rect">
            <a:avLst/>
          </a:prstGeom>
          <a:noFill/>
        </p:spPr>
        <p:txBody>
          <a:bodyPr wrap="square">
            <a:spAutoFit/>
          </a:bodyPr>
          <a:lstStyle/>
          <a:p>
            <a:pPr algn="ctr"/>
            <a:r>
              <a:rPr b="1" sz="2000">
                <a:solidFill>
                  <a:srgbClr val="00F0FF"/>
                </a:solidFill>
              </a:rPr>
              <a:t>$0 Paid</a:t>
            </a:r>
          </a:p>
          <a:p>
            <a:pPr algn="ctr">
              <a:spcBef>
                <a:spcPts val="400"/>
              </a:spcBef>
            </a:pPr>
            <a:r>
              <a:rPr sz="1050">
                <a:solidFill>
                  <a:srgbClr val="94A3B8"/>
                </a:solidFill>
              </a:rPr>
              <a:t>Organic Open-Source CAC</a:t>
            </a:r>
          </a:p>
        </p:txBody>
      </p:sp>
      <p:sp>
        <p:nvSpPr>
          <p:cNvPr id="9" name="Rounded Rectangle 8"/>
          <p:cNvSpPr/>
          <p:nvPr/>
        </p:nvSpPr>
        <p:spPr>
          <a:xfrm>
            <a:off x="3483864" y="4389120"/>
            <a:ext cx="2468880" cy="1097280"/>
          </a:xfrm>
          <a:prstGeom prst="roundRect">
            <a:avLst/>
          </a:prstGeom>
          <a:solidFill>
            <a:srgbClr val="0D121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75304" y="4526280"/>
            <a:ext cx="2286000" cy="822960"/>
          </a:xfrm>
          <a:prstGeom prst="rect">
            <a:avLst/>
          </a:prstGeom>
          <a:noFill/>
        </p:spPr>
        <p:txBody>
          <a:bodyPr wrap="square">
            <a:spAutoFit/>
          </a:bodyPr>
          <a:lstStyle/>
          <a:p>
            <a:pPr algn="ctr"/>
            <a:r>
              <a:rPr b="1" sz="2000">
                <a:solidFill>
                  <a:srgbClr val="A855F7"/>
                </a:solidFill>
              </a:rPr>
              <a:t>$5,350</a:t>
            </a:r>
          </a:p>
          <a:p>
            <a:pPr algn="ctr">
              <a:spcBef>
                <a:spcPts val="400"/>
              </a:spcBef>
            </a:pPr>
            <a:r>
              <a:rPr sz="1050">
                <a:solidFill>
                  <a:srgbClr val="94A3B8"/>
                </a:solidFill>
              </a:rPr>
              <a:t>Projected Blended LTV</a:t>
            </a:r>
          </a:p>
        </p:txBody>
      </p:sp>
      <p:sp>
        <p:nvSpPr>
          <p:cNvPr id="11" name="Rounded Rectangle 10"/>
          <p:cNvSpPr/>
          <p:nvPr/>
        </p:nvSpPr>
        <p:spPr>
          <a:xfrm>
            <a:off x="6236208" y="4389120"/>
            <a:ext cx="2468880" cy="1097280"/>
          </a:xfrm>
          <a:prstGeom prst="roundRect">
            <a:avLst/>
          </a:prstGeom>
          <a:solidFill>
            <a:srgbClr val="0D121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4526280"/>
            <a:ext cx="2286000" cy="822960"/>
          </a:xfrm>
          <a:prstGeom prst="rect">
            <a:avLst/>
          </a:prstGeom>
          <a:noFill/>
        </p:spPr>
        <p:txBody>
          <a:bodyPr wrap="square">
            <a:spAutoFit/>
          </a:bodyPr>
          <a:lstStyle/>
          <a:p>
            <a:pPr algn="ctr"/>
            <a:r>
              <a:rPr b="1" sz="2000">
                <a:solidFill>
                  <a:srgbClr val="10B981"/>
                </a:solidFill>
              </a:rPr>
              <a:t>2.1 Mo</a:t>
            </a:r>
          </a:p>
          <a:p>
            <a:pPr algn="ctr">
              <a:spcBef>
                <a:spcPts val="400"/>
              </a:spcBef>
            </a:pPr>
            <a:r>
              <a:rPr sz="1050">
                <a:solidFill>
                  <a:srgbClr val="94A3B8"/>
                </a:solidFill>
              </a:rPr>
              <a:t>Payback Period</a:t>
            </a:r>
          </a:p>
        </p:txBody>
      </p:sp>
      <p:sp>
        <p:nvSpPr>
          <p:cNvPr id="13" name="Rounded Rectangle 12"/>
          <p:cNvSpPr/>
          <p:nvPr/>
        </p:nvSpPr>
        <p:spPr>
          <a:xfrm>
            <a:off x="8988552" y="4389120"/>
            <a:ext cx="2468880" cy="1097280"/>
          </a:xfrm>
          <a:prstGeom prst="roundRect">
            <a:avLst/>
          </a:prstGeom>
          <a:solidFill>
            <a:srgbClr val="0D121E"/>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79992" y="4526280"/>
            <a:ext cx="2286000" cy="822960"/>
          </a:xfrm>
          <a:prstGeom prst="rect">
            <a:avLst/>
          </a:prstGeom>
          <a:noFill/>
        </p:spPr>
        <p:txBody>
          <a:bodyPr wrap="square">
            <a:spAutoFit/>
          </a:bodyPr>
          <a:lstStyle/>
          <a:p>
            <a:pPr algn="ctr"/>
            <a:r>
              <a:rPr b="1" sz="2000">
                <a:solidFill>
                  <a:srgbClr val="00F0FF"/>
                </a:solidFill>
              </a:rPr>
              <a:t>138%</a:t>
            </a:r>
          </a:p>
          <a:p>
            <a:pPr algn="ctr">
              <a:spcBef>
                <a:spcPts val="400"/>
              </a:spcBef>
            </a:pPr>
            <a:r>
              <a:rPr sz="1050">
                <a:solidFill>
                  <a:srgbClr val="94A3B8"/>
                </a:solidFill>
              </a:rPr>
              <a:t>Net Dollar Retention</a:t>
            </a:r>
          </a:p>
        </p:txBody>
      </p:sp>
      <p:sp>
        <p:nvSpPr>
          <p:cNvPr id="15" name="TextBox 14"/>
          <p:cNvSpPr txBox="1"/>
          <p:nvPr/>
        </p:nvSpPr>
        <p:spPr>
          <a:xfrm>
            <a:off x="731520" y="5669280"/>
            <a:ext cx="10728655" cy="457200"/>
          </a:xfrm>
          <a:prstGeom prst="rect">
            <a:avLst/>
          </a:prstGeom>
          <a:noFill/>
        </p:spPr>
        <p:txBody>
          <a:bodyPr wrap="none">
            <a:spAutoFit/>
          </a:bodyPr>
          <a:lstStyle/>
          <a:p>
            <a:pPr algn="ctr"/>
            <a:r>
              <a:rPr sz="1100">
                <a:solidFill>
                  <a:srgbClr val="94A3B8"/>
                </a:solidFill>
              </a:rPr>
              <a:t>138% Net Dollar Retention driven organically as customer apps process more AI requests.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