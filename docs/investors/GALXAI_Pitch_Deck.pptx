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Master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1695" cy="6858000" type="screen16x9"/>
  <p:notesSz cx="6858000" cy="9144000"/>
  <p:defaultTextStyle>
    <a:defPPr/>
    <a:lvl1pPr marL="0" algn="l">
      <a:defRPr lang="en-US"/>
    </a:lvl1pPr>
  </p:defaultTextStyle>
</p:presentation>
</file>

<file path=ppt/_rels/presentation.xml.rels><Relationships xmlns="http://schemas.openxmlformats.org/package/2006/relationships"><Relationship Id="rIdMaster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/Relationships>
</file>

<file path=ppt/slideLayouts/_rels/slideLayout1.xml.rels><Relationships xmlns="http://schemas.openxmlformats.org/package/2006/relationships"><Relationship Id="rId1" Type="http://schemas.openxmlformats.org/officeDocument/2006/relationships/slideLayout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/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731520" y="365760"/>
            <a:ext cx="8686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r>
              <a:rPr lang="en-US" sz="1400" b="1">
                <a:solidFill>
                  <a:srgbClr val="00F0FF"/>
                </a:solidFill>
                <a:latin typeface="Arial"/>
              </a:rPr>
              <a:t>GALX</a:t>
            </a:r>
            <a:endParaRPr lang="en-US"/>
          </a:p>
          <a:p>
            <a:r>
              <a:rPr lang="en-US" sz="1100">
                <a:solidFill>
                  <a:srgbClr val="9CA3AF"/>
                </a:solidFill>
                <a:latin typeface="Arial"/>
              </a:rPr>
              <a:t>  •  Augmented Creative Intelligence</a:t>
            </a:r>
            <a:endParaRPr lang="en-US"/>
          </a:p>
        </p:txBody>
      </p:sp>
      <p:sp>
        <p:nvSpPr>
          <p:cNvPr id="3" name="Slide number"/>
          <p:cNvSpPr txBox="1"/>
          <p:nvPr/>
        </p:nvSpPr>
        <p:spPr>
          <a:xfrm>
            <a:off x="9601200" y="365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1">
                <a:solidFill>
                  <a:srgbClr val="9CA3AF"/>
                </a:solidFill>
                <a:latin typeface="Arial"/>
              </a:rPr>
              <a:t>Slide 01 / 10</a:t>
            </a:r>
            <a:endParaRPr lang="en-US"/>
          </a:p>
        </p:txBody>
      </p:sp>
      <p:sp>
        <p:nvSpPr>
          <p:cNvPr id="4" name="Title"/>
          <p:cNvSpPr txBox="1"/>
          <p:nvPr/>
        </p:nvSpPr>
        <p:spPr>
          <a:xfrm>
            <a:off x="731520" y="1005840"/>
            <a:ext cx="10728655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en-US" sz="2400" b="1">
                <a:solidFill>
                  <a:srgbClr val="F8FAFC"/>
                </a:solidFill>
                <a:latin typeface="Arial"/>
              </a:rPr>
              <a:t>More capable machines will create demand for more capable people</a:t>
            </a:r>
            <a:endParaRPr lang="en-US"/>
          </a:p>
          <a:p>
            <a:r>
              <a:rPr lang="en-US" sz="1300">
                <a:solidFill>
                  <a:srgbClr val="00F0FF"/>
                </a:solidFill>
                <a:latin typeface="Arial"/>
              </a:rPr>
              <a:t>GALX is building around what people become able to accomplish through agents.</a:t>
            </a:r>
            <a:endParaRPr lang="en-US"/>
          </a:p>
        </p:txBody>
      </p:sp>
      <p:sp>
        <p:nvSpPr>
          <p:cNvPr id="10" name="Card 1"/>
          <p:cNvSpPr txBox="1"/>
          <p:nvPr/>
        </p:nvSpPr>
        <p:spPr>
          <a:xfrm>
            <a:off x="731520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8B5CF6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The forecast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Agent capability may shift the bottleneck from execution to direction.</a:t>
            </a:r>
            <a:endParaRPr lang="en-US"/>
          </a:p>
        </p:txBody>
      </p:sp>
      <p:sp>
        <p:nvSpPr>
          <p:cNvPr id="12" name="Card 2"/>
          <p:cNvSpPr txBox="1"/>
          <p:nvPr/>
        </p:nvSpPr>
        <p:spPr>
          <a:xfrm>
            <a:off x="6233007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30334A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The first proof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One person creates something meaningful that was previously beyond practical reach.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731520" y="365760"/>
            <a:ext cx="8686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r>
              <a:rPr lang="en-US" sz="1400" b="1">
                <a:solidFill>
                  <a:srgbClr val="00F0FF"/>
                </a:solidFill>
                <a:latin typeface="Arial"/>
              </a:rPr>
              <a:t>GALX</a:t>
            </a:r>
            <a:endParaRPr lang="en-US"/>
          </a:p>
          <a:p>
            <a:r>
              <a:rPr lang="en-US" sz="1100">
                <a:solidFill>
                  <a:srgbClr val="9CA3AF"/>
                </a:solidFill>
                <a:latin typeface="Arial"/>
              </a:rPr>
              <a:t>  •  Augmented Creative Intelligence</a:t>
            </a:r>
            <a:endParaRPr lang="en-US"/>
          </a:p>
        </p:txBody>
      </p:sp>
      <p:sp>
        <p:nvSpPr>
          <p:cNvPr id="3" name="Slide number"/>
          <p:cNvSpPr txBox="1"/>
          <p:nvPr/>
        </p:nvSpPr>
        <p:spPr>
          <a:xfrm>
            <a:off x="9601200" y="365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1">
                <a:solidFill>
                  <a:srgbClr val="9CA3AF"/>
                </a:solidFill>
                <a:latin typeface="Arial"/>
              </a:rPr>
              <a:t>Slide 02 / 10</a:t>
            </a:r>
            <a:endParaRPr lang="en-US"/>
          </a:p>
        </p:txBody>
      </p:sp>
      <p:sp>
        <p:nvSpPr>
          <p:cNvPr id="4" name="Title"/>
          <p:cNvSpPr txBox="1"/>
          <p:nvPr/>
        </p:nvSpPr>
        <p:spPr>
          <a:xfrm>
            <a:off x="731520" y="1005840"/>
            <a:ext cx="10728655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en-US" sz="2400" b="1">
                <a:solidFill>
                  <a:srgbClr val="F8FAFC"/>
                </a:solidFill>
                <a:latin typeface="Arial"/>
              </a:rPr>
              <a:t>The bottleneck is between human intention and agent execution</a:t>
            </a:r>
            <a:endParaRPr lang="en-US"/>
          </a:p>
          <a:p>
            <a:r>
              <a:rPr lang="en-US" sz="1300">
                <a:solidFill>
                  <a:srgbClr val="00F0FF"/>
                </a:solidFill>
                <a:latin typeface="Arial"/>
              </a:rPr>
              <a:t>Creative work often develops through interaction rather than a single complete instruction.</a:t>
            </a:r>
            <a:endParaRPr lang="en-US"/>
          </a:p>
        </p:txBody>
      </p:sp>
      <p:sp>
        <p:nvSpPr>
          <p:cNvPr id="10" name="Card 1"/>
          <p:cNvSpPr txBox="1"/>
          <p:nvPr/>
        </p:nvSpPr>
        <p:spPr>
          <a:xfrm>
            <a:off x="731520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8B5CF6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The relationship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Express → delegate → inspect → redirect → preserve → continue.</a:t>
            </a:r>
            <a:endParaRPr lang="en-US"/>
          </a:p>
        </p:txBody>
      </p:sp>
      <p:sp>
        <p:nvSpPr>
          <p:cNvPr id="12" name="Card 2"/>
          <p:cNvSpPr txBox="1"/>
          <p:nvPr/>
        </p:nvSpPr>
        <p:spPr>
          <a:xfrm>
            <a:off x="6233007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30334A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The risk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More output can leave the person with more interpretation and correction.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731520" y="365760"/>
            <a:ext cx="8686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r>
              <a:rPr lang="en-US" sz="1400" b="1">
                <a:solidFill>
                  <a:srgbClr val="00F0FF"/>
                </a:solidFill>
                <a:latin typeface="Arial"/>
              </a:rPr>
              <a:t>GALX</a:t>
            </a:r>
            <a:endParaRPr lang="en-US"/>
          </a:p>
          <a:p>
            <a:r>
              <a:rPr lang="en-US" sz="1100">
                <a:solidFill>
                  <a:srgbClr val="9CA3AF"/>
                </a:solidFill>
                <a:latin typeface="Arial"/>
              </a:rPr>
              <a:t>  •  Augmented Creative Intelligence</a:t>
            </a:r>
            <a:endParaRPr lang="en-US"/>
          </a:p>
        </p:txBody>
      </p:sp>
      <p:sp>
        <p:nvSpPr>
          <p:cNvPr id="3" name="Slide number"/>
          <p:cNvSpPr txBox="1"/>
          <p:nvPr/>
        </p:nvSpPr>
        <p:spPr>
          <a:xfrm>
            <a:off x="9601200" y="365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1">
                <a:solidFill>
                  <a:srgbClr val="9CA3AF"/>
                </a:solidFill>
                <a:latin typeface="Arial"/>
              </a:rPr>
              <a:t>Slide 03 / 10</a:t>
            </a:r>
            <a:endParaRPr lang="en-US"/>
          </a:p>
        </p:txBody>
      </p:sp>
      <p:sp>
        <p:nvSpPr>
          <p:cNvPr id="4" name="Title"/>
          <p:cNvSpPr txBox="1"/>
          <p:nvPr/>
        </p:nvSpPr>
        <p:spPr>
          <a:xfrm>
            <a:off x="731520" y="1005840"/>
            <a:ext cx="10728655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en-US" sz="2400" b="1">
                <a:solidFill>
                  <a:srgbClr val="F8FAFC"/>
                </a:solidFill>
                <a:latin typeface="Arial"/>
              </a:rPr>
              <a:t>Augmented Creative Intelligence changes the unit of analysis</a:t>
            </a:r>
            <a:endParaRPr lang="en-US"/>
          </a:p>
          <a:p>
            <a:r>
              <a:rPr lang="en-US" sz="1300">
                <a:solidFill>
                  <a:srgbClr val="00F0FF"/>
                </a:solidFill>
                <a:latin typeface="Arial"/>
              </a:rPr>
              <a:t>The system is the person, their agents, their tools, and the work they create together.</a:t>
            </a:r>
            <a:endParaRPr lang="en-US"/>
          </a:p>
        </p:txBody>
      </p:sp>
      <p:sp>
        <p:nvSpPr>
          <p:cNvPr id="10" name="Card 1"/>
          <p:cNvSpPr txBox="1"/>
          <p:nvPr/>
        </p:nvSpPr>
        <p:spPr>
          <a:xfrm>
            <a:off x="731520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8B5CF6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ACI asks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What can the person now initiate, influence, complete, and return to?</a:t>
            </a:r>
            <a:endParaRPr lang="en-US"/>
          </a:p>
        </p:txBody>
      </p:sp>
      <p:sp>
        <p:nvSpPr>
          <p:cNvPr id="12" name="Card 2"/>
          <p:cNvSpPr txBox="1"/>
          <p:nvPr/>
        </p:nvSpPr>
        <p:spPr>
          <a:xfrm>
            <a:off x="6233007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30334A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ACI is not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A claim that GALX invented human augmentation or a new model category.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731520" y="365760"/>
            <a:ext cx="8686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r>
              <a:rPr lang="en-US" sz="1400" b="1">
                <a:solidFill>
                  <a:srgbClr val="00F0FF"/>
                </a:solidFill>
                <a:latin typeface="Arial"/>
              </a:rPr>
              <a:t>GALX</a:t>
            </a:r>
            <a:endParaRPr lang="en-US"/>
          </a:p>
          <a:p>
            <a:r>
              <a:rPr lang="en-US" sz="1100">
                <a:solidFill>
                  <a:srgbClr val="9CA3AF"/>
                </a:solidFill>
                <a:latin typeface="Arial"/>
              </a:rPr>
              <a:t>  •  Augmented Creative Intelligence</a:t>
            </a:r>
            <a:endParaRPr lang="en-US"/>
          </a:p>
        </p:txBody>
      </p:sp>
      <p:sp>
        <p:nvSpPr>
          <p:cNvPr id="3" name="Slide number"/>
          <p:cNvSpPr txBox="1"/>
          <p:nvPr/>
        </p:nvSpPr>
        <p:spPr>
          <a:xfrm>
            <a:off x="9601200" y="365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1">
                <a:solidFill>
                  <a:srgbClr val="9CA3AF"/>
                </a:solidFill>
                <a:latin typeface="Arial"/>
              </a:rPr>
              <a:t>Slide 04 / 10</a:t>
            </a:r>
            <a:endParaRPr lang="en-US"/>
          </a:p>
        </p:txBody>
      </p:sp>
      <p:sp>
        <p:nvSpPr>
          <p:cNvPr id="4" name="Title"/>
          <p:cNvSpPr txBox="1"/>
          <p:nvPr/>
        </p:nvSpPr>
        <p:spPr>
          <a:xfrm>
            <a:off x="731520" y="1005840"/>
            <a:ext cx="10728655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en-US" sz="2400" b="1">
                <a:solidFill>
                  <a:srgbClr val="F8FAFC"/>
                </a:solidFill>
                <a:latin typeface="Arial"/>
              </a:rPr>
              <a:t>The first individual experiment is obtainable now</a:t>
            </a:r>
            <a:endParaRPr lang="en-US"/>
          </a:p>
          <a:p>
            <a:r>
              <a:rPr lang="en-US" sz="1300">
                <a:solidFill>
                  <a:srgbClr val="00F0FF"/>
                </a:solidFill>
                <a:latin typeface="Arial"/>
              </a:rPr>
              <a:t>Enough capability exists to test the creative experience directly, without building an institution first.</a:t>
            </a:r>
            <a:endParaRPr lang="en-US"/>
          </a:p>
        </p:txBody>
      </p:sp>
      <p:sp>
        <p:nvSpPr>
          <p:cNvPr id="10" name="Card 1"/>
          <p:cNvSpPr txBox="1"/>
          <p:nvPr/>
        </p:nvSpPr>
        <p:spPr>
          <a:xfrm>
            <a:off x="731520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8B5CF6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Then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DreamBees pursued creative range when the capability layer was harder to access.</a:t>
            </a:r>
            <a:endParaRPr lang="en-US"/>
          </a:p>
        </p:txBody>
      </p:sp>
      <p:sp>
        <p:nvSpPr>
          <p:cNvPr id="12" name="Card 2"/>
          <p:cNvSpPr txBox="1"/>
          <p:nvPr/>
        </p:nvSpPr>
        <p:spPr>
          <a:xfrm>
            <a:off x="6233007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30334A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Now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Agentic capability makes the person-level experiment practical to run and measure.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731520" y="365760"/>
            <a:ext cx="8686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r>
              <a:rPr lang="en-US" sz="1400" b="1">
                <a:solidFill>
                  <a:srgbClr val="00F0FF"/>
                </a:solidFill>
                <a:latin typeface="Arial"/>
              </a:rPr>
              <a:t>GALX</a:t>
            </a:r>
            <a:endParaRPr lang="en-US"/>
          </a:p>
          <a:p>
            <a:r>
              <a:rPr lang="en-US" sz="1100">
                <a:solidFill>
                  <a:srgbClr val="9CA3AF"/>
                </a:solidFill>
                <a:latin typeface="Arial"/>
              </a:rPr>
              <a:t>  •  Augmented Creative Intelligence</a:t>
            </a:r>
            <a:endParaRPr lang="en-US"/>
          </a:p>
        </p:txBody>
      </p:sp>
      <p:sp>
        <p:nvSpPr>
          <p:cNvPr id="3" name="Slide number"/>
          <p:cNvSpPr txBox="1"/>
          <p:nvPr/>
        </p:nvSpPr>
        <p:spPr>
          <a:xfrm>
            <a:off x="9601200" y="365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1">
                <a:solidFill>
                  <a:srgbClr val="9CA3AF"/>
                </a:solidFill>
                <a:latin typeface="Arial"/>
              </a:rPr>
              <a:t>Slide 05 / 10</a:t>
            </a:r>
            <a:endParaRPr lang="en-US"/>
          </a:p>
        </p:txBody>
      </p:sp>
      <p:sp>
        <p:nvSpPr>
          <p:cNvPr id="4" name="Title"/>
          <p:cNvSpPr txBox="1"/>
          <p:nvPr/>
        </p:nvSpPr>
        <p:spPr>
          <a:xfrm>
            <a:off x="731520" y="1005840"/>
            <a:ext cx="10728655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en-US" sz="2400" b="1">
                <a:solidFill>
                  <a:srgbClr val="F8FAFC"/>
                </a:solidFill>
                <a:latin typeface="Arial"/>
              </a:rPr>
              <a:t>The founder has studied both sides of the relationship</a:t>
            </a:r>
            <a:endParaRPr lang="en-US"/>
          </a:p>
          <a:p>
            <a:r>
              <a:rPr lang="en-US" sz="1300">
                <a:solidFill>
                  <a:srgbClr val="00F0FF"/>
                </a:solidFill>
                <a:latin typeface="Arial"/>
              </a:rPr>
              <a:t>Human-centered systems, creative work, agent construction, and operational judgment meet in one problem.</a:t>
            </a:r>
            <a:endParaRPr lang="en-US"/>
          </a:p>
        </p:txBody>
      </p:sp>
      <p:sp>
        <p:nvSpPr>
          <p:cNvPr id="10" name="Card 1"/>
          <p:cNvSpPr txBox="1"/>
          <p:nvPr/>
        </p:nvSpPr>
        <p:spPr>
          <a:xfrm>
            <a:off x="731520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8B5CF6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Continuity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DreamBees → LUMI → GALX: recurring pursuit of individual creative capability.</a:t>
            </a:r>
            <a:endParaRPr lang="en-US"/>
          </a:p>
        </p:txBody>
      </p:sp>
      <p:sp>
        <p:nvSpPr>
          <p:cNvPr id="12" name="Card 2"/>
          <p:cNvSpPr txBox="1"/>
          <p:nvPr/>
        </p:nvSpPr>
        <p:spPr>
          <a:xfrm>
            <a:off x="6233007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30334A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Evidence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The May 2026 JoyZoning report distinguished generated changes from accepted work.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731520" y="365760"/>
            <a:ext cx="8686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r>
              <a:rPr lang="en-US" sz="1400" b="1">
                <a:solidFill>
                  <a:srgbClr val="00F0FF"/>
                </a:solidFill>
                <a:latin typeface="Arial"/>
              </a:rPr>
              <a:t>GALX</a:t>
            </a:r>
            <a:endParaRPr lang="en-US"/>
          </a:p>
          <a:p>
            <a:r>
              <a:rPr lang="en-US" sz="1100">
                <a:solidFill>
                  <a:srgbClr val="9CA3AF"/>
                </a:solidFill>
                <a:latin typeface="Arial"/>
              </a:rPr>
              <a:t>  •  Augmented Creative Intelligence</a:t>
            </a:r>
            <a:endParaRPr lang="en-US"/>
          </a:p>
        </p:txBody>
      </p:sp>
      <p:sp>
        <p:nvSpPr>
          <p:cNvPr id="3" name="Slide number"/>
          <p:cNvSpPr txBox="1"/>
          <p:nvPr/>
        </p:nvSpPr>
        <p:spPr>
          <a:xfrm>
            <a:off x="9601200" y="365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1">
                <a:solidFill>
                  <a:srgbClr val="9CA3AF"/>
                </a:solidFill>
                <a:latin typeface="Arial"/>
              </a:rPr>
              <a:t>Slide 06 / 10</a:t>
            </a:r>
            <a:endParaRPr lang="en-US"/>
          </a:p>
        </p:txBody>
      </p:sp>
      <p:sp>
        <p:nvSpPr>
          <p:cNvPr id="4" name="Title"/>
          <p:cNvSpPr txBox="1"/>
          <p:nvPr/>
        </p:nvSpPr>
        <p:spPr>
          <a:xfrm>
            <a:off x="731520" y="1005840"/>
            <a:ext cx="10728655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en-US" sz="2400" b="1">
                <a:solidFill>
                  <a:srgbClr val="F8FAFC"/>
                </a:solidFill>
                <a:latin typeface="Arial"/>
              </a:rPr>
              <a:t>One creator. One visual idea. One meaningful result.</a:t>
            </a:r>
            <a:endParaRPr lang="en-US"/>
          </a:p>
          <a:p>
            <a:r>
              <a:rPr lang="en-US" sz="1300">
                <a:solidFill>
                  <a:srgbClr val="00F0FF"/>
                </a:solidFill>
                <a:latin typeface="Arial"/>
              </a:rPr>
              <a:t>Image creation and community discovery are the focused commercial entry point.</a:t>
            </a:r>
            <a:endParaRPr lang="en-US"/>
          </a:p>
        </p:txBody>
      </p:sp>
      <p:sp>
        <p:nvSpPr>
          <p:cNvPr id="10" name="Card 1"/>
          <p:cNvSpPr txBox="1"/>
          <p:nvPr/>
        </p:nvSpPr>
        <p:spPr>
          <a:xfrm>
            <a:off x="731520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8B5CF6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The loop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Bring an idea → direct and revise → keep or share → return.</a:t>
            </a:r>
            <a:endParaRPr lang="en-US"/>
          </a:p>
        </p:txBody>
      </p:sp>
      <p:sp>
        <p:nvSpPr>
          <p:cNvPr id="12" name="Card 2"/>
          <p:cNvSpPr txBox="1"/>
          <p:nvPr/>
        </p:nvSpPr>
        <p:spPr>
          <a:xfrm>
            <a:off x="6233007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30334A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The customer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An independent creator with recurring visual ideas, not a one-time generator.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731520" y="365760"/>
            <a:ext cx="8686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r>
              <a:rPr lang="en-US" sz="1400" b="1">
                <a:solidFill>
                  <a:srgbClr val="00F0FF"/>
                </a:solidFill>
                <a:latin typeface="Arial"/>
              </a:rPr>
              <a:t>GALX</a:t>
            </a:r>
            <a:endParaRPr lang="en-US"/>
          </a:p>
          <a:p>
            <a:r>
              <a:rPr lang="en-US" sz="1100">
                <a:solidFill>
                  <a:srgbClr val="9CA3AF"/>
                </a:solidFill>
                <a:latin typeface="Arial"/>
              </a:rPr>
              <a:t>  •  Augmented Creative Intelligence</a:t>
            </a:r>
            <a:endParaRPr lang="en-US"/>
          </a:p>
        </p:txBody>
      </p:sp>
      <p:sp>
        <p:nvSpPr>
          <p:cNvPr id="3" name="Slide number"/>
          <p:cNvSpPr txBox="1"/>
          <p:nvPr/>
        </p:nvSpPr>
        <p:spPr>
          <a:xfrm>
            <a:off x="9601200" y="365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1">
                <a:solidFill>
                  <a:srgbClr val="9CA3AF"/>
                </a:solidFill>
                <a:latin typeface="Arial"/>
              </a:rPr>
              <a:t>Slide 07 / 10</a:t>
            </a:r>
            <a:endParaRPr lang="en-US"/>
          </a:p>
        </p:txBody>
      </p:sp>
      <p:sp>
        <p:nvSpPr>
          <p:cNvPr id="4" name="Title"/>
          <p:cNvSpPr txBox="1"/>
          <p:nvPr/>
        </p:nvSpPr>
        <p:spPr>
          <a:xfrm>
            <a:off x="731520" y="1005840"/>
            <a:ext cx="10728655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en-US" sz="2400" b="1">
                <a:solidFill>
                  <a:srgbClr val="F8FAFC"/>
                </a:solidFill>
                <a:latin typeface="Arial"/>
              </a:rPr>
              <a:t>Permission becomes action; the product earns the next visit</a:t>
            </a:r>
            <a:endParaRPr lang="en-US"/>
          </a:p>
          <a:p>
            <a:r>
              <a:rPr lang="en-US" sz="1300">
                <a:solidFill>
                  <a:srgbClr val="00F0FF"/>
                </a:solidFill>
                <a:latin typeface="Arial"/>
              </a:rPr>
              <a:t>HEAV3NS MANDATE activates. LUMI remains a software-creation instrument.</a:t>
            </a:r>
            <a:endParaRPr lang="en-US"/>
          </a:p>
        </p:txBody>
      </p:sp>
      <p:sp>
        <p:nvSpPr>
          <p:cNvPr id="10" name="Card 1"/>
          <p:cNvSpPr txBox="1"/>
          <p:nvPr/>
        </p:nvSpPr>
        <p:spPr>
          <a:xfrm>
            <a:off x="731520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8B5CF6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HEAV3NS MANDATE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The call to begin—not a product tier or a promise to be productive.</a:t>
            </a:r>
            <a:endParaRPr lang="en-US"/>
          </a:p>
        </p:txBody>
      </p:sp>
      <p:sp>
        <p:nvSpPr>
          <p:cNvPr id="12" name="Card 2"/>
          <p:cNvSpPr txBox="1"/>
          <p:nvPr/>
        </p:nvSpPr>
        <p:spPr>
          <a:xfrm>
            <a:off x="6233007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30334A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LUMI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A maintained expression of the thesis, not a second general-purpose coding-agent race.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731520" y="365760"/>
            <a:ext cx="8686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r>
              <a:rPr lang="en-US" sz="1400" b="1">
                <a:solidFill>
                  <a:srgbClr val="00F0FF"/>
                </a:solidFill>
                <a:latin typeface="Arial"/>
              </a:rPr>
              <a:t>GALX</a:t>
            </a:r>
            <a:endParaRPr lang="en-US"/>
          </a:p>
          <a:p>
            <a:r>
              <a:rPr lang="en-US" sz="1100">
                <a:solidFill>
                  <a:srgbClr val="9CA3AF"/>
                </a:solidFill>
                <a:latin typeface="Arial"/>
              </a:rPr>
              <a:t>  •  Augmented Creative Intelligence</a:t>
            </a:r>
            <a:endParaRPr lang="en-US"/>
          </a:p>
        </p:txBody>
      </p:sp>
      <p:sp>
        <p:nvSpPr>
          <p:cNvPr id="3" name="Slide number"/>
          <p:cNvSpPr txBox="1"/>
          <p:nvPr/>
        </p:nvSpPr>
        <p:spPr>
          <a:xfrm>
            <a:off x="9601200" y="365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1">
                <a:solidFill>
                  <a:srgbClr val="9CA3AF"/>
                </a:solidFill>
                <a:latin typeface="Arial"/>
              </a:rPr>
              <a:t>Slide 08 / 10</a:t>
            </a:r>
            <a:endParaRPr lang="en-US"/>
          </a:p>
        </p:txBody>
      </p:sp>
      <p:sp>
        <p:nvSpPr>
          <p:cNvPr id="4" name="Title"/>
          <p:cNvSpPr txBox="1"/>
          <p:nvPr/>
        </p:nvSpPr>
        <p:spPr>
          <a:xfrm>
            <a:off x="731520" y="1005840"/>
            <a:ext cx="10728655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en-US" sz="2400" b="1">
                <a:solidFill>
                  <a:srgbClr val="F8FAFC"/>
                </a:solidFill>
                <a:latin typeface="Arial"/>
              </a:rPr>
              <a:t>Turn individual capability into repeatable paid value</a:t>
            </a:r>
            <a:endParaRPr lang="en-US"/>
          </a:p>
          <a:p>
            <a:r>
              <a:rPr lang="en-US" sz="1300">
                <a:solidFill>
                  <a:srgbClr val="00F0FF"/>
                </a:solidFill>
                <a:latin typeface="Arial"/>
              </a:rPr>
              <a:t>The economic unit is a retained, paying creator—not an externally supplied token.</a:t>
            </a:r>
            <a:endParaRPr lang="en-US"/>
          </a:p>
        </p:txBody>
      </p:sp>
      <p:sp>
        <p:nvSpPr>
          <p:cNvPr id="10" name="Card 1"/>
          <p:cNvSpPr txBox="1"/>
          <p:nvPr/>
        </p:nvSpPr>
        <p:spPr>
          <a:xfrm>
            <a:off x="731520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8B5CF6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The sequence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Meaningful result → recurring projects → retained creator → preferred environment.</a:t>
            </a:r>
            <a:endParaRPr lang="en-US"/>
          </a:p>
        </p:txBody>
      </p:sp>
      <p:sp>
        <p:nvSpPr>
          <p:cNvPr id="12" name="Card 2"/>
          <p:cNvSpPr txBox="1"/>
          <p:nvPr/>
        </p:nvSpPr>
        <p:spPr>
          <a:xfrm>
            <a:off x="6233007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30334A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The scale condition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Customer value must grow faster than founder intervention.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731520" y="365760"/>
            <a:ext cx="8686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r>
              <a:rPr lang="en-US" sz="1400" b="1">
                <a:solidFill>
                  <a:srgbClr val="00F0FF"/>
                </a:solidFill>
                <a:latin typeface="Arial"/>
              </a:rPr>
              <a:t>GALX</a:t>
            </a:r>
            <a:endParaRPr lang="en-US"/>
          </a:p>
          <a:p>
            <a:r>
              <a:rPr lang="en-US" sz="1100">
                <a:solidFill>
                  <a:srgbClr val="9CA3AF"/>
                </a:solidFill>
                <a:latin typeface="Arial"/>
              </a:rPr>
              <a:t>  •  Augmented Creative Intelligence</a:t>
            </a:r>
            <a:endParaRPr lang="en-US"/>
          </a:p>
        </p:txBody>
      </p:sp>
      <p:sp>
        <p:nvSpPr>
          <p:cNvPr id="3" name="Slide number"/>
          <p:cNvSpPr txBox="1"/>
          <p:nvPr/>
        </p:nvSpPr>
        <p:spPr>
          <a:xfrm>
            <a:off x="9601200" y="365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1">
                <a:solidFill>
                  <a:srgbClr val="9CA3AF"/>
                </a:solidFill>
                <a:latin typeface="Arial"/>
              </a:rPr>
              <a:t>Slide 09 / 10</a:t>
            </a:r>
            <a:endParaRPr lang="en-US"/>
          </a:p>
        </p:txBody>
      </p:sp>
      <p:sp>
        <p:nvSpPr>
          <p:cNvPr id="4" name="Title"/>
          <p:cNvSpPr txBox="1"/>
          <p:nvPr/>
        </p:nvSpPr>
        <p:spPr>
          <a:xfrm>
            <a:off x="731520" y="1005840"/>
            <a:ext cx="10728655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en-US" sz="2400" b="1">
                <a:solidFill>
                  <a:srgbClr val="F8FAFC"/>
                </a:solidFill>
                <a:latin typeface="Arial"/>
              </a:rPr>
              <a:t>The thesis must survive comparison, behavior, and economics</a:t>
            </a:r>
            <a:endParaRPr lang="en-US"/>
          </a:p>
          <a:p>
            <a:r>
              <a:rPr lang="en-US" sz="1300">
                <a:solidFill>
                  <a:srgbClr val="00F0FF"/>
                </a:solidFill>
                <a:latin typeface="Arial"/>
              </a:rPr>
              <a:t>Capability, product, and business are separate proofs.</a:t>
            </a:r>
            <a:endParaRPr lang="en-US"/>
          </a:p>
        </p:txBody>
      </p:sp>
      <p:sp>
        <p:nvSpPr>
          <p:cNvPr id="10" name="Card 1"/>
          <p:cNvSpPr txBox="1"/>
          <p:nvPr/>
        </p:nvSpPr>
        <p:spPr>
          <a:xfrm>
            <a:off x="731520" y="2560320"/>
            <a:ext cx="3393338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8B5CF6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Capability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Meaningful completion, direction, revision, and recoverability.</a:t>
            </a:r>
            <a:endParaRPr lang="en-US"/>
          </a:p>
        </p:txBody>
      </p:sp>
      <p:sp>
        <p:nvSpPr>
          <p:cNvPr id="12" name="Card 2"/>
          <p:cNvSpPr txBox="1"/>
          <p:nvPr/>
        </p:nvSpPr>
        <p:spPr>
          <a:xfrm>
            <a:off x="4399178" y="2560320"/>
            <a:ext cx="3393338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30334A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Product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Independent return and preference over relevant alternatives.</a:t>
            </a:r>
            <a:endParaRPr lang="en-US"/>
          </a:p>
        </p:txBody>
      </p:sp>
      <p:sp>
        <p:nvSpPr>
          <p:cNvPr id="14" name="Card 3"/>
          <p:cNvSpPr txBox="1"/>
          <p:nvPr/>
        </p:nvSpPr>
        <p:spPr>
          <a:xfrm>
            <a:off x="8066836" y="2560320"/>
            <a:ext cx="3393338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30334A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Business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Payment, sustainable cost to serve, and repeatable distribution.</a:t>
            </a: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"/>
          <p:cNvSpPr txBox="1"/>
          <p:nvPr/>
        </p:nvSpPr>
        <p:spPr>
          <a:xfrm>
            <a:off x="731520" y="365760"/>
            <a:ext cx="8686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r>
              <a:rPr lang="en-US" sz="1400" b="1">
                <a:solidFill>
                  <a:srgbClr val="00F0FF"/>
                </a:solidFill>
                <a:latin typeface="Arial"/>
              </a:rPr>
              <a:t>GALX</a:t>
            </a:r>
            <a:endParaRPr lang="en-US"/>
          </a:p>
          <a:p>
            <a:r>
              <a:rPr lang="en-US" sz="1100">
                <a:solidFill>
                  <a:srgbClr val="9CA3AF"/>
                </a:solidFill>
                <a:latin typeface="Arial"/>
              </a:rPr>
              <a:t>  •  Augmented Creative Intelligence</a:t>
            </a:r>
            <a:endParaRPr lang="en-US"/>
          </a:p>
        </p:txBody>
      </p:sp>
      <p:sp>
        <p:nvSpPr>
          <p:cNvPr id="3" name="Slide number"/>
          <p:cNvSpPr txBox="1"/>
          <p:nvPr/>
        </p:nvSpPr>
        <p:spPr>
          <a:xfrm>
            <a:off x="9601200" y="365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1">
                <a:solidFill>
                  <a:srgbClr val="9CA3AF"/>
                </a:solidFill>
                <a:latin typeface="Arial"/>
              </a:rPr>
              <a:t>Slide 10 / 10</a:t>
            </a:r>
            <a:endParaRPr lang="en-US"/>
          </a:p>
        </p:txBody>
      </p:sp>
      <p:sp>
        <p:nvSpPr>
          <p:cNvPr id="4" name="Title"/>
          <p:cNvSpPr txBox="1"/>
          <p:nvPr/>
        </p:nvSpPr>
        <p:spPr>
          <a:xfrm>
            <a:off x="731520" y="1005840"/>
            <a:ext cx="10728655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r>
              <a:rPr lang="en-US" sz="2400" b="1">
                <a:solidFill>
                  <a:srgbClr val="F8FAFC"/>
                </a:solidFill>
                <a:latin typeface="Arial"/>
              </a:rPr>
              <a:t>Make the first proof small enough to perform</a:t>
            </a:r>
            <a:endParaRPr lang="en-US"/>
          </a:p>
          <a:p>
            <a:r>
              <a:rPr lang="en-US" sz="1300">
                <a:solidFill>
                  <a:srgbClr val="00F0FF"/>
                </a:solidFill>
                <a:latin typeface="Arial"/>
              </a:rPr>
              <a:t>Capital accelerates product quality, bounded cohorts, measurement, and dependable delivery.</a:t>
            </a:r>
            <a:endParaRPr lang="en-US"/>
          </a:p>
        </p:txBody>
      </p:sp>
      <p:sp>
        <p:nvSpPr>
          <p:cNvPr id="10" name="Card 1"/>
          <p:cNvSpPr txBox="1"/>
          <p:nvPr/>
        </p:nvSpPr>
        <p:spPr>
          <a:xfrm>
            <a:off x="731520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8B5CF6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Next milestones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Meaningful capability → paid return → repeatable delivery.</a:t>
            </a:r>
            <a:endParaRPr lang="en-US"/>
          </a:p>
        </p:txBody>
      </p:sp>
      <p:sp>
        <p:nvSpPr>
          <p:cNvPr id="12" name="Card 2"/>
          <p:cNvSpPr txBox="1"/>
          <p:nvPr/>
        </p:nvSpPr>
        <p:spPr>
          <a:xfrm>
            <a:off x="6233007" y="2560320"/>
            <a:ext cx="5227167" cy="3291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30334A"/>
            </a:solidFill>
          </a:ln>
        </p:spPr>
        <p:txBody>
          <a:bodyPr wrap="square" lIns="228600" tIns="228600" rIns="228600" bIns="228600" anchor="t">
            <a:spAutoFit/>
          </a:bodyPr>
          <a:lstStyle/>
          <a:p>
            <a:r>
              <a:rPr lang="en-US" sz="1500" b="1">
                <a:solidFill>
                  <a:srgbClr val="F8FAFC"/>
                </a:solidFill>
                <a:latin typeface="Arial"/>
              </a:rPr>
              <a:t>The close</a:t>
            </a:r>
            <a:endParaRPr lang="en-US"/>
          </a:p>
          <a:p>
            <a:r>
              <a:rPr lang="en-US" sz="1150">
                <a:solidFill>
                  <a:srgbClr val="9CA3AF"/>
                </a:solidFill>
                <a:latin typeface="Arial"/>
              </a:rPr>
              <a:t>One person demonstrates possibility; repeated use and payment demonstrate the business.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LX ACI">
  <a:themeElements>
    <a:clrScheme name="GALX ACI">
      <a:dk1>
        <a:srgbClr val="000000"/>
      </a:dk1>
      <a:lt1>
        <a:srgbClr val="FFFFFF"/>
      </a:lt1>
      <a:dk2>
        <a:srgbClr val="07080D"/>
      </a:dk2>
      <a:lt2>
        <a:srgbClr val="F8FAFC"/>
      </a:lt2>
      <a:accent1>
        <a:srgbClr val="00F0FF"/>
      </a:accent1>
      <a:accent2>
        <a:srgbClr val="8B5CF6"/>
      </a:accent2>
      <a:accent3>
        <a:srgbClr val="10B981"/>
      </a:accent3>
      <a:accent4>
        <a:srgbClr val="F59E0B"/>
      </a:accent4>
      <a:accent5>
        <a:srgbClr val="F43F5E"/>
      </a:accent5>
      <a:accent6>
        <a:srgbClr val="6366F1"/>
      </a:accent6>
      <a:hlink>
        <a:srgbClr val="00F0FF"/>
      </a:hlink>
      <a:folHlink>
        <a:srgbClr val="8B5CF6"/>
      </a:folHlink>
    </a:clrScheme>
    <a:fontScheme name="GALX">
      <a:majorFont>
        <a:latin typeface="Arial"/>
      </a:majorFont>
      <a:minorFont>
        <a:latin typeface="Arial"/>
      </a:minorFont>
    </a:fontScheme>
    <a:fmtScheme name="GALX">
      <a:fillStyleLst/>
      <a:lnStyleLst/>
      <a:effectStyleLst/>
      <a:bgFillStyleLst/>
    </a:fmtScheme>
  </a:themeElements>
</a:theme>
</file>